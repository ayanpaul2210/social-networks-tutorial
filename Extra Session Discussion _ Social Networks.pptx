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Arial Black"/>
      <p:regular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ArialBlack-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4f1919ea9_0_26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d4f1919ea9_0_2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4f1919ea9_0_60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g3d4f1919ea9_0_6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d6398a2cb_0_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g3dd6398a2cb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d6398a2cb_0_34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g3dd6398a2cb_0_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d6398a2cb_0_68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g3dd6398a2cb_0_6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d6398a2cb_0_103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g3dd6398a2cb_0_10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d6398a2cb_0_137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g3dd6398a2cb_0_13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d6398a2cb_0_145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3dd6398a2cb_0_14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d6398a2cb_0_153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3dd6398a2cb_0_15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dd6398a2cb_0_16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g3dd6398a2cb_0_16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dd6398a2cb_0_169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g3dd6398a2cb_0_16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4f1919ea9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d4f1919ea9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52" name="Google Shape;252;g3d4f1919ea9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4f1919ea9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d4f1919ea9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65" name="Google Shape;265;g3d4f1919ea9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4f1919ea9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d4f1919ea9_0_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77" name="Google Shape;277;g3d4f1919ea9_0_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4f1919ea9_0_3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d4f1919ea9_0_3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89" name="Google Shape;289;g3d4f1919ea9_0_3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4f1919ea9_0_4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3d4f1919ea9_0_4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02" name="Google Shape;302;g3d4f1919ea9_0_4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4f1919ea9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d4f1919ea9_0_5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14" name="Google Shape;314;g3d4f1919ea9_0_5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4f1919ea9_0_6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g3d4f1919ea9_0_6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26" name="Google Shape;326;g3d4f1919ea9_0_6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4f1919ea9_0_7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d4f1919ea9_0_7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38" name="Google Shape;338;g3d4f1919ea9_0_7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d4f1919ea9_0_8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d4f1919ea9_0_8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50" name="Google Shape;350;g3d4f1919ea9_0_8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dd6398a2cb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3dd6398a2cb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62" name="Google Shape;362;g3dd6398a2cb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d6398a2cb_0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3dd6398a2cb_0_1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74" name="Google Shape;374;g3dd6398a2cb_0_1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d6398a2cb_0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3dd6398a2cb_0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89" name="Google Shape;389;g3dd6398a2cb_0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d6398a2cb_0_4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dd6398a2cb_0_4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01" name="Google Shape;401;g3dd6398a2cb_0_4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dd6398a2cb_0_5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3dd6398a2cb_0_5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13" name="Google Shape;413;g3dd6398a2cb_0_5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d6398a2cb_0_6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dd6398a2cb_0_6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25" name="Google Shape;425;g3dd6398a2cb_0_6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d6398a2cb_0_7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dd6398a2cb_0_7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37" name="Google Shape;437;g3dd6398a2cb_0_7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dd6398a2cb_0_8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dd6398a2cb_0_8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53" name="Google Shape;453;g3dd6398a2cb_0_8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dd6398a2cb_0_9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dd6398a2cb_0_9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65" name="Google Shape;465;g3dd6398a2cb_0_9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dd6398a2cb_0_1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g3dd6398a2cb_0_1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77" name="Google Shape;477;g3dd6398a2cb_0_1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d6398a2cb_0_1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3dd6398a2cb_0_1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89" name="Google Shape;489;g3dd6398a2cb_0_11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dd6398a2cb_0_1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g3dd6398a2cb_0_12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01" name="Google Shape;501;g3dd6398a2cb_0_12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dd6398a2cb_0_17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g3dd6398a2cb_0_17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13" name="Google Shape;513;g3dd6398a2cb_0_17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dd6398a2cb_0_18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g3dd6398a2cb_0_18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27" name="Google Shape;527;g3dd6398a2cb_0_18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dd6398a2cb_0_19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g3dd6398a2cb_0_19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41" name="Google Shape;541;g3dd6398a2cb_0_19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dd6398a2cb_0_20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g3dd6398a2cb_0_20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53" name="Google Shape;553;g3dd6398a2cb_0_20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dd6398a2cb_0_2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g3dd6398a2cb_0_21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65" name="Google Shape;565;g3dd6398a2cb_0_21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dd6398a2cb_0_2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g3dd6398a2cb_0_2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80" name="Google Shape;580;g3dd6398a2cb_0_2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dd6398a2cb_0_23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dd6398a2cb_0_23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92" name="Google Shape;592;g3dd6398a2cb_0_23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dd6398a2cb_0_23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g3dd6398a2cb_0_23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06" name="Google Shape;606;g3dd6398a2cb_0_23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dd6398a2cb_0_24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dd6398a2cb_0_24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22" name="Google Shape;622;g3dd6398a2cb_0_24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dd6398a2cb_0_25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dd6398a2cb_0_25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35" name="Google Shape;635;g3dd6398a2cb_0_25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dd6398a2cb_0_26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3dd6398a2cb_0_26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49" name="Google Shape;649;g3dd6398a2cb_0_26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dd6398a2cb_0_27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g3dd6398a2cb_0_27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63" name="Google Shape;663;g3dd6398a2cb_0_27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dd6398a2cb_0_28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g3dd6398a2cb_0_28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77" name="Google Shape;677;g3dd6398a2cb_0_28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dd6398a2cb_0_29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g3dd6398a2cb_0_29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90" name="Google Shape;690;g3dd6398a2cb_0_29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d6398a2cb_0_29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g3dd6398a2cb_0_29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02" name="Google Shape;702;g3dd6398a2cb_0_29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dd6398a2cb_0_3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dd6398a2cb_0_3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 name="Google Shape;14;p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 name="Google Shape;18;p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4" name="Google Shape;24;p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5"/>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0" name="Google Shape;30;p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6"/>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 name="Google Shape;36;p6"/>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 name="Google Shape;37;p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9" name="Google Shape;39;p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7"/>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3" name="Google Shape;43;p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7"/>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5" name="Google Shape;45;p7"/>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 name="Google Shape;46;p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1" name="Google Shape;51;p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9"/>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Google Shape;57;p9"/>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Google Shape;58;p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10"/>
          <p:cNvSpPr/>
          <p:nvPr>
            <p:ph idx="2" type="pic"/>
          </p:nvPr>
        </p:nvSpPr>
        <p:spPr>
          <a:xfrm>
            <a:off x="3887391" y="740569"/>
            <a:ext cx="4629150" cy="3655219"/>
          </a:xfrm>
          <a:prstGeom prst="rect">
            <a:avLst/>
          </a:prstGeom>
          <a:noFill/>
          <a:ln>
            <a:noFill/>
          </a:ln>
        </p:spPr>
      </p:sp>
      <p:sp>
        <p:nvSpPr>
          <p:cNvPr id="64" name="Google Shape;64;p10"/>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Google Shape;65;p1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1"/>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Google Shape;71;p1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2"/>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5"/>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93" name="Google Shape;93;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p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17"/>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05" name="Google Shape;105;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0" name="Google Shape;110;p18"/>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18"/>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 name="Google Shape;112;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9"/>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19"/>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18" name="Google Shape;118;p19"/>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9" name="Google Shape;119;p19"/>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0" name="Google Shape;120;p19"/>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1" name="Google Shape;121;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2" name="Google Shape;122;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6" name="Google Shape;126;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21"/>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1" name="Google Shape;131;p21"/>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32" name="Google Shape;132;p21"/>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33" name="Google Shape;133;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4" name="Google Shape;134;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5" name="Google Shape;135;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8" name="Google Shape;138;p22"/>
          <p:cNvSpPr/>
          <p:nvPr>
            <p:ph idx="2" type="pic"/>
          </p:nvPr>
        </p:nvSpPr>
        <p:spPr>
          <a:xfrm>
            <a:off x="3887391" y="740569"/>
            <a:ext cx="4629300" cy="3655200"/>
          </a:xfrm>
          <a:prstGeom prst="rect">
            <a:avLst/>
          </a:prstGeom>
          <a:noFill/>
          <a:ln>
            <a:noFill/>
          </a:ln>
        </p:spPr>
      </p:sp>
      <p:sp>
        <p:nvSpPr>
          <p:cNvPr id="139" name="Google Shape;139;p22"/>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40" name="Google Shape;140;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 name="Google Shape;141;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2" name="Google Shape;142;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5" name="Google Shape;145;p23"/>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6" name="Google Shape;146;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7" name="Google Shape;147;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8" name="Google Shape;148;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4"/>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1" name="Google Shape;151;p24"/>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3" name="Google Shape;153;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4" name="Google Shape;154;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82" name="Google Shape;8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3" name="Google Shape;8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84" name="Google Shape;8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85" name="Google Shape;8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0.png"/><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48.png"/><Relationship Id="rId5"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3.png"/><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9.png"/><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4.png"/><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50.jpg"/><Relationship Id="rId4" Type="http://schemas.openxmlformats.org/officeDocument/2006/relationships/image" Target="../media/image51.jpg"/><Relationship Id="rId5" Type="http://schemas.openxmlformats.org/officeDocument/2006/relationships/hyperlink" Target="https://sites.google.com/view/ayans-agribot/hom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65000"/>
          </a:blip>
          <a:stretch>
            <a:fillRect/>
          </a:stretch>
        </a:blipFill>
      </p:bgPr>
    </p:bg>
    <p:spTree>
      <p:nvGrpSpPr>
        <p:cNvPr id="158" name="Shape 158"/>
        <p:cNvGrpSpPr/>
        <p:nvPr/>
      </p:nvGrpSpPr>
      <p:grpSpPr>
        <a:xfrm>
          <a:off x="0" y="0"/>
          <a:ext cx="0" cy="0"/>
          <a:chOff x="0" y="0"/>
          <a:chExt cx="0" cy="0"/>
        </a:xfrm>
      </p:grpSpPr>
      <p:sp>
        <p:nvSpPr>
          <p:cNvPr id="159" name="Google Shape;159;p25"/>
          <p:cNvSpPr/>
          <p:nvPr/>
        </p:nvSpPr>
        <p:spPr>
          <a:xfrm>
            <a:off x="1857425" y="128000"/>
            <a:ext cx="5994300" cy="1315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4100"/>
              <a:buFont typeface="Arial"/>
              <a:buNone/>
            </a:pPr>
            <a:r>
              <a:rPr b="1" lang="en-US" sz="4100">
                <a:solidFill>
                  <a:srgbClr val="FEE599"/>
                </a:solidFill>
                <a:latin typeface="Calibri"/>
                <a:ea typeface="Calibri"/>
                <a:cs typeface="Calibri"/>
                <a:sym typeface="Calibri"/>
              </a:rPr>
              <a:t>Extra Session</a:t>
            </a:r>
            <a:r>
              <a:rPr b="1" i="0" lang="en-US" sz="4100" u="none" cap="none" strike="noStrike">
                <a:solidFill>
                  <a:srgbClr val="FEE599"/>
                </a:solidFill>
                <a:latin typeface="Calibri"/>
                <a:ea typeface="Calibri"/>
                <a:cs typeface="Calibri"/>
                <a:sym typeface="Calibri"/>
              </a:rPr>
              <a:t> (Discussion)</a:t>
            </a:r>
            <a:endParaRPr b="0" i="0" sz="1100" u="none" cap="none" strike="noStrike">
              <a:solidFill>
                <a:srgbClr val="FEE599"/>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100"/>
              <a:buFont typeface="Arial"/>
              <a:buNone/>
            </a:pPr>
            <a:r>
              <a:rPr b="1" i="0" lang="en-US" sz="4100" u="none" cap="none" strike="noStrike">
                <a:solidFill>
                  <a:srgbClr val="FEE599"/>
                </a:solidFill>
                <a:latin typeface="Calibri"/>
                <a:ea typeface="Calibri"/>
                <a:cs typeface="Calibri"/>
                <a:sym typeface="Calibri"/>
              </a:rPr>
              <a:t>11</a:t>
            </a:r>
            <a:r>
              <a:rPr b="1" baseline="30000" i="0" lang="en-US" sz="4100" u="none" cap="none" strike="noStrike">
                <a:solidFill>
                  <a:srgbClr val="FEE599"/>
                </a:solidFill>
                <a:latin typeface="Calibri"/>
                <a:ea typeface="Calibri"/>
                <a:cs typeface="Calibri"/>
                <a:sym typeface="Calibri"/>
              </a:rPr>
              <a:t>th</a:t>
            </a:r>
            <a:r>
              <a:rPr b="1" i="0" lang="en-US" sz="4100" u="none" cap="none" strike="noStrike">
                <a:solidFill>
                  <a:srgbClr val="FEE599"/>
                </a:solidFill>
                <a:latin typeface="Calibri"/>
                <a:ea typeface="Calibri"/>
                <a:cs typeface="Calibri"/>
                <a:sym typeface="Calibri"/>
              </a:rPr>
              <a:t> </a:t>
            </a:r>
            <a:r>
              <a:rPr b="1" lang="en-US" sz="4100">
                <a:solidFill>
                  <a:srgbClr val="FEE599"/>
                </a:solidFill>
                <a:latin typeface="Calibri"/>
                <a:ea typeface="Calibri"/>
                <a:cs typeface="Calibri"/>
                <a:sym typeface="Calibri"/>
              </a:rPr>
              <a:t>Apr</a:t>
            </a:r>
            <a:r>
              <a:rPr b="1" i="0" lang="en-US" sz="4100" u="none" cap="none" strike="noStrike">
                <a:solidFill>
                  <a:srgbClr val="FEE599"/>
                </a:solidFill>
                <a:latin typeface="Calibri"/>
                <a:ea typeface="Calibri"/>
                <a:cs typeface="Calibri"/>
                <a:sym typeface="Calibri"/>
              </a:rPr>
              <a:t>, 2026</a:t>
            </a:r>
            <a:endParaRPr b="1" i="0" sz="4100" u="none" cap="none" strike="noStrike">
              <a:solidFill>
                <a:srgbClr val="FEE599"/>
              </a:solidFill>
              <a:latin typeface="Calibri"/>
              <a:ea typeface="Calibri"/>
              <a:cs typeface="Calibri"/>
              <a:sym typeface="Calibri"/>
            </a:endParaRPr>
          </a:p>
        </p:txBody>
      </p:sp>
      <p:pic>
        <p:nvPicPr>
          <p:cNvPr id="160" name="Google Shape;160;p25"/>
          <p:cNvPicPr preferRelativeResize="0"/>
          <p:nvPr/>
        </p:nvPicPr>
        <p:blipFill rotWithShape="1">
          <a:blip r:embed="rId4">
            <a:alphaModFix/>
          </a:blip>
          <a:srcRect b="0" l="0" r="0" t="0"/>
          <a:stretch/>
        </p:blipFill>
        <p:spPr>
          <a:xfrm>
            <a:off x="91911" y="122195"/>
            <a:ext cx="1477652" cy="1477652"/>
          </a:xfrm>
          <a:prstGeom prst="rect">
            <a:avLst/>
          </a:prstGeom>
          <a:noFill/>
          <a:ln>
            <a:noFill/>
          </a:ln>
        </p:spPr>
      </p:pic>
      <p:pic>
        <p:nvPicPr>
          <p:cNvPr id="161" name="Google Shape;161;p25"/>
          <p:cNvPicPr preferRelativeResize="0"/>
          <p:nvPr/>
        </p:nvPicPr>
        <p:blipFill rotWithShape="1">
          <a:blip r:embed="rId5">
            <a:alphaModFix/>
          </a:blip>
          <a:srcRect b="0" l="0" r="0" t="0"/>
          <a:stretch/>
        </p:blipFill>
        <p:spPr>
          <a:xfrm>
            <a:off x="7851774" y="122195"/>
            <a:ext cx="1133573" cy="1269602"/>
          </a:xfrm>
          <a:prstGeom prst="rect">
            <a:avLst/>
          </a:prstGeom>
          <a:noFill/>
          <a:ln>
            <a:noFill/>
          </a:ln>
        </p:spPr>
      </p:pic>
      <p:sp>
        <p:nvSpPr>
          <p:cNvPr id="162" name="Google Shape;162;p25"/>
          <p:cNvSpPr txBox="1"/>
          <p:nvPr/>
        </p:nvSpPr>
        <p:spPr>
          <a:xfrm>
            <a:off x="0" y="1922667"/>
            <a:ext cx="7105200" cy="1915879"/>
          </a:xfrm>
          <a:prstGeom prst="rect">
            <a:avLst/>
          </a:prstGeom>
          <a:solidFill>
            <a:srgbClr val="FBE4D4">
              <a:alpha val="74117"/>
            </a:srgbClr>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AC1684"/>
                </a:solidFill>
                <a:latin typeface="Arial Black"/>
                <a:ea typeface="Arial Black"/>
                <a:cs typeface="Arial Black"/>
                <a:sym typeface="Arial Black"/>
              </a:rPr>
              <a:t>Social Networks</a:t>
            </a:r>
            <a:endParaRPr b="0" i="0" sz="1800" u="none" cap="none" strike="noStrike">
              <a:solidFill>
                <a:srgbClr val="AC1684"/>
              </a:solidFill>
              <a:latin typeface="Arial Black"/>
              <a:ea typeface="Arial Black"/>
              <a:cs typeface="Arial Black"/>
              <a:sym typeface="Arial Black"/>
            </a:endParaRPr>
          </a:p>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AC1684"/>
                </a:solidFill>
                <a:latin typeface="Arial"/>
                <a:ea typeface="Arial"/>
                <a:cs typeface="Arial"/>
                <a:sym typeface="Arial"/>
              </a:rPr>
              <a:t>Prof. Sudarshan Iyengar</a:t>
            </a:r>
            <a:endParaRPr/>
          </a:p>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AC1684"/>
                </a:solidFill>
                <a:latin typeface="Arial"/>
                <a:ea typeface="Arial"/>
                <a:cs typeface="Arial"/>
                <a:sym typeface="Arial"/>
              </a:rPr>
              <a:t>Professor and Head of the Department</a:t>
            </a:r>
            <a:endParaRPr/>
          </a:p>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AC1684"/>
                </a:solidFill>
                <a:latin typeface="Arial"/>
                <a:ea typeface="Arial"/>
                <a:cs typeface="Arial"/>
                <a:sym typeface="Arial"/>
              </a:rPr>
              <a:t>Department of Computer Science and Engineering</a:t>
            </a:r>
            <a:endParaRPr b="0" i="0" sz="1400" u="none" cap="none" strike="noStrike">
              <a:solidFill>
                <a:srgbClr val="AC1684"/>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AC1684"/>
                </a:solidFill>
                <a:latin typeface="Arial"/>
                <a:ea typeface="Arial"/>
                <a:cs typeface="Arial"/>
                <a:sym typeface="Arial"/>
              </a:rPr>
              <a:t>IIT Ropar</a:t>
            </a:r>
            <a:endParaRPr b="0" i="0" sz="1400" u="none" cap="none" strike="noStrike">
              <a:solidFill>
                <a:srgbClr val="AC1684"/>
              </a:solidFill>
              <a:latin typeface="Arial"/>
              <a:ea typeface="Arial"/>
              <a:cs typeface="Arial"/>
              <a:sym typeface="Arial"/>
            </a:endParaRPr>
          </a:p>
        </p:txBody>
      </p:sp>
      <p:sp>
        <p:nvSpPr>
          <p:cNvPr id="163" name="Google Shape;163;p25"/>
          <p:cNvSpPr txBox="1"/>
          <p:nvPr/>
        </p:nvSpPr>
        <p:spPr>
          <a:xfrm>
            <a:off x="1" y="3965274"/>
            <a:ext cx="6440864" cy="1073756"/>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Clr>
                <a:srgbClr val="000000"/>
              </a:buClr>
              <a:buSzPts val="1500"/>
              <a:buFont typeface="Arial"/>
              <a:buNone/>
            </a:pPr>
            <a:r>
              <a:rPr b="1" i="0" lang="en-US" sz="1500" u="none" cap="none" strike="noStrike">
                <a:solidFill>
                  <a:srgbClr val="FFF2CC"/>
                </a:solidFill>
                <a:latin typeface="Arial"/>
                <a:ea typeface="Arial"/>
                <a:cs typeface="Arial"/>
                <a:sym typeface="Arial"/>
              </a:rPr>
              <a:t>Ayan Paul</a:t>
            </a:r>
            <a:endParaRPr b="0" i="0" sz="1100" u="none" cap="none" strike="noStrike">
              <a:solidFill>
                <a:srgbClr val="000000"/>
              </a:solidFill>
              <a:latin typeface="Arial"/>
              <a:ea typeface="Arial"/>
              <a:cs typeface="Arial"/>
              <a:sym typeface="Arial"/>
            </a:endParaRPr>
          </a:p>
          <a:p>
            <a:pPr indent="0" lvl="0" marL="0" marR="0" rtl="0" algn="r">
              <a:lnSpc>
                <a:spcPct val="150000"/>
              </a:lnSpc>
              <a:spcBef>
                <a:spcPts val="0"/>
              </a:spcBef>
              <a:spcAft>
                <a:spcPts val="0"/>
              </a:spcAft>
              <a:buClr>
                <a:srgbClr val="000000"/>
              </a:buClr>
              <a:buSzPts val="1500"/>
              <a:buFont typeface="Arial"/>
              <a:buNone/>
            </a:pPr>
            <a:r>
              <a:rPr b="1" i="0" lang="en-US" sz="1500" u="none" cap="none" strike="noStrike">
                <a:solidFill>
                  <a:srgbClr val="FFF2CC"/>
                </a:solidFill>
                <a:latin typeface="Arial"/>
                <a:ea typeface="Arial"/>
                <a:cs typeface="Arial"/>
                <a:sym typeface="Arial"/>
              </a:rPr>
              <a:t>PMRF Research Scholar </a:t>
            </a:r>
            <a:endParaRPr b="0" i="0" sz="1100" u="none" cap="none" strike="noStrike">
              <a:solidFill>
                <a:srgbClr val="000000"/>
              </a:solidFill>
              <a:latin typeface="Arial"/>
              <a:ea typeface="Arial"/>
              <a:cs typeface="Arial"/>
              <a:sym typeface="Arial"/>
            </a:endParaRPr>
          </a:p>
          <a:p>
            <a:pPr indent="0" lvl="0" marL="0" marR="0" rtl="0" algn="r">
              <a:lnSpc>
                <a:spcPct val="150000"/>
              </a:lnSpc>
              <a:spcBef>
                <a:spcPts val="0"/>
              </a:spcBef>
              <a:spcAft>
                <a:spcPts val="0"/>
              </a:spcAft>
              <a:buClr>
                <a:srgbClr val="000000"/>
              </a:buClr>
              <a:buSzPts val="1500"/>
              <a:buFont typeface="Arial"/>
              <a:buNone/>
            </a:pPr>
            <a:r>
              <a:rPr b="1" i="0" lang="en-US" sz="1500" u="none" cap="none" strike="noStrike">
                <a:solidFill>
                  <a:srgbClr val="FFF2CC"/>
                </a:solidFill>
                <a:latin typeface="Arial"/>
                <a:ea typeface="Arial"/>
                <a:cs typeface="Arial"/>
                <a:sym typeface="Arial"/>
              </a:rPr>
              <a:t>IIT Kharagpur</a:t>
            </a:r>
            <a:endParaRPr b="1" i="0" sz="1500" u="none" cap="none" strike="noStrike">
              <a:solidFill>
                <a:srgbClr val="FFF2CC"/>
              </a:solidFill>
              <a:latin typeface="Arial"/>
              <a:ea typeface="Arial"/>
              <a:cs typeface="Arial"/>
              <a:sym typeface="Arial"/>
            </a:endParaRPr>
          </a:p>
        </p:txBody>
      </p:sp>
      <p:pic>
        <p:nvPicPr>
          <p:cNvPr id="164" name="Google Shape;164;p25"/>
          <p:cNvPicPr preferRelativeResize="0"/>
          <p:nvPr/>
        </p:nvPicPr>
        <p:blipFill rotWithShape="1">
          <a:blip r:embed="rId6">
            <a:alphaModFix/>
          </a:blip>
          <a:srcRect b="0" l="0" r="0" t="0"/>
          <a:stretch/>
        </p:blipFill>
        <p:spPr>
          <a:xfrm>
            <a:off x="5366084" y="1585053"/>
            <a:ext cx="3777916" cy="35584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nvSpPr>
        <p:spPr>
          <a:xfrm>
            <a:off x="235442" y="649925"/>
            <a:ext cx="7197300" cy="14547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Social Networks Concepts</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Challenges in Social Networks</a:t>
            </a:r>
            <a:endParaRPr b="0" i="0" sz="14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What can be done with Social Networks</a:t>
            </a:r>
            <a:endParaRPr b="0" i="0" sz="1100" u="none" cap="none" strike="noStrike">
              <a:solidFill>
                <a:srgbClr val="000000"/>
              </a:solidFill>
              <a:latin typeface="Arial"/>
              <a:ea typeface="Arial"/>
              <a:cs typeface="Arial"/>
              <a:sym typeface="Arial"/>
            </a:endParaRPr>
          </a:p>
        </p:txBody>
      </p:sp>
      <p:sp>
        <p:nvSpPr>
          <p:cNvPr id="170" name="Google Shape;170;p26"/>
          <p:cNvSpPr txBox="1"/>
          <p:nvPr/>
        </p:nvSpPr>
        <p:spPr>
          <a:xfrm>
            <a:off x="1538999" y="107880"/>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1 Assignment Questions are based</a:t>
            </a:r>
            <a:endParaRPr b="0" i="0" sz="1100" u="none" cap="none" strike="noStrike">
              <a:solidFill>
                <a:srgbClr val="000000"/>
              </a:solidFill>
              <a:latin typeface="Arial"/>
              <a:ea typeface="Arial"/>
              <a:cs typeface="Arial"/>
              <a:sym typeface="Arial"/>
            </a:endParaRPr>
          </a:p>
        </p:txBody>
      </p:sp>
      <p:sp>
        <p:nvSpPr>
          <p:cNvPr id="171" name="Google Shape;171;p26"/>
          <p:cNvSpPr txBox="1"/>
          <p:nvPr/>
        </p:nvSpPr>
        <p:spPr>
          <a:xfrm>
            <a:off x="4958825" y="953925"/>
            <a:ext cx="4080300" cy="407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500">
                <a:solidFill>
                  <a:schemeClr val="dk1"/>
                </a:solidFill>
                <a:latin typeface="Times New Roman"/>
                <a:ea typeface="Times New Roman"/>
                <a:cs typeface="Times New Roman"/>
                <a:sym typeface="Times New Roman"/>
              </a:rPr>
              <a:t>🔹 What is a Social Network?</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Nodes = people/entities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Edges = relationships/interactions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Examples: Facebook, collaboration networks, web links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500">
                <a:solidFill>
                  <a:schemeClr val="dk1"/>
                </a:solidFill>
                <a:latin typeface="Times New Roman"/>
                <a:ea typeface="Times New Roman"/>
                <a:cs typeface="Times New Roman"/>
                <a:sym typeface="Times New Roman"/>
              </a:rPr>
              <a:t>⚠️ Challenges in Social Networks</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Scale (millions → billions of nodes)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Noise &amp; incomplete data</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Dynamic nature (constantly evolving)</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500">
                <a:solidFill>
                  <a:schemeClr val="dk1"/>
                </a:solidFill>
                <a:latin typeface="Times New Roman"/>
                <a:ea typeface="Times New Roman"/>
                <a:cs typeface="Times New Roman"/>
                <a:sym typeface="Times New Roman"/>
              </a:rPr>
              <a:t>🚀 What Can We Do?</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Predict behavior (recommendations)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Detect communities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Spread information (marketing, awareness)</a:t>
            </a:r>
            <a:endParaRPr sz="13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gtEl>
                                        <p:attrNameLst>
                                          <p:attrName>style.visibility</p:attrName>
                                        </p:attrNameLst>
                                      </p:cBhvr>
                                      <p:to>
                                        <p:strVal val="visible"/>
                                      </p:to>
                                    </p:set>
                                    <p:anim calcmode="lin" valueType="num">
                                      <p:cBhvr additive="base">
                                        <p:cTn dur="500"/>
                                        <p:tgtEl>
                                          <p:spTgt spid="17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nvSpPr>
        <p:spPr>
          <a:xfrm>
            <a:off x="164917" y="569350"/>
            <a:ext cx="7197300" cy="22857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Social Network Datasets</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Social Network Datasets Types- Ingredient Network, Synonymy Network, Web Graph </a:t>
            </a:r>
            <a:endParaRPr b="0" i="0" sz="11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Social Network Datasets Analysis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Emergence of Connectedness</a:t>
            </a:r>
            <a:endParaRPr b="0" i="0" sz="1400" u="none" cap="none" strike="noStrike">
              <a:solidFill>
                <a:srgbClr val="000000"/>
              </a:solidFill>
              <a:latin typeface="Arial"/>
              <a:ea typeface="Arial"/>
              <a:cs typeface="Arial"/>
              <a:sym typeface="Arial"/>
            </a:endParaRPr>
          </a:p>
        </p:txBody>
      </p:sp>
      <p:sp>
        <p:nvSpPr>
          <p:cNvPr id="177" name="Google Shape;177;p27"/>
          <p:cNvSpPr txBox="1"/>
          <p:nvPr/>
        </p:nvSpPr>
        <p:spPr>
          <a:xfrm>
            <a:off x="1538999" y="118180"/>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a:t>
            </a:r>
            <a:r>
              <a:rPr b="1" lang="en-US" sz="1800">
                <a:solidFill>
                  <a:schemeClr val="lt1"/>
                </a:solidFill>
                <a:latin typeface="Times New Roman"/>
                <a:ea typeface="Times New Roman"/>
                <a:cs typeface="Times New Roman"/>
                <a:sym typeface="Times New Roman"/>
              </a:rPr>
              <a:t>2</a:t>
            </a:r>
            <a:r>
              <a:rPr b="1" i="0" lang="en-US" sz="1800" u="none" cap="none" strike="noStrike">
                <a:solidFill>
                  <a:schemeClr val="lt1"/>
                </a:solidFill>
                <a:latin typeface="Times New Roman"/>
                <a:ea typeface="Times New Roman"/>
                <a:cs typeface="Times New Roman"/>
                <a:sym typeface="Times New Roman"/>
              </a:rPr>
              <a:t> Assignment Questions are based</a:t>
            </a:r>
            <a:endParaRPr b="0" i="0" sz="1100" u="none" cap="none" strike="noStrike">
              <a:solidFill>
                <a:srgbClr val="000000"/>
              </a:solidFill>
              <a:latin typeface="Arial"/>
              <a:ea typeface="Arial"/>
              <a:cs typeface="Arial"/>
              <a:sym typeface="Arial"/>
            </a:endParaRPr>
          </a:p>
        </p:txBody>
      </p:sp>
      <p:sp>
        <p:nvSpPr>
          <p:cNvPr id="178" name="Google Shape;178;p27"/>
          <p:cNvSpPr txBox="1"/>
          <p:nvPr/>
        </p:nvSpPr>
        <p:spPr>
          <a:xfrm>
            <a:off x="5588775" y="1530300"/>
            <a:ext cx="3451500" cy="361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500">
                <a:solidFill>
                  <a:schemeClr val="dk1"/>
                </a:solidFill>
                <a:latin typeface="Times New Roman"/>
                <a:ea typeface="Times New Roman"/>
                <a:cs typeface="Times New Roman"/>
                <a:sym typeface="Times New Roman"/>
              </a:rPr>
              <a:t>🔹 Types of Networks</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Ingredient Network 🍲 (food pairings)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Synonymy Network 📖 (words)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Web Graph 🌍 (hyperlinks)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500">
                <a:solidFill>
                  <a:schemeClr val="dk1"/>
                </a:solidFill>
                <a:latin typeface="Times New Roman"/>
                <a:ea typeface="Times New Roman"/>
                <a:cs typeface="Times New Roman"/>
                <a:sym typeface="Times New Roman"/>
              </a:rPr>
              <a:t>🔍 Analysis Techniques</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Degree distribution</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Clustering coefficient</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Connected components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500">
                <a:solidFill>
                  <a:schemeClr val="dk1"/>
                </a:solidFill>
                <a:latin typeface="Times New Roman"/>
                <a:ea typeface="Times New Roman"/>
                <a:cs typeface="Times New Roman"/>
                <a:sym typeface="Times New Roman"/>
              </a:rPr>
              <a:t>🔗 Emergence of Connectedness</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Giant component forms suddenly</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“Everything becomes reachable!”</a:t>
            </a:r>
            <a:endParaRPr sz="13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500"/>
                                        <p:tgtEl>
                                          <p:spTgt spid="1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nvSpPr>
        <p:spPr>
          <a:xfrm>
            <a:off x="103092" y="651850"/>
            <a:ext cx="7197300" cy="31170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Strength of Week Ties</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Granovetter’s Experiment: The Strength of Weak Ties</a:t>
            </a:r>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Neighborhood and Neighborhood Overlap</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Structure of weak ties, bridge and local bridge</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Structural Holes and Social Capital</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Betweenness Measure and Graph Partitioning</a:t>
            </a:r>
            <a:endParaRPr/>
          </a:p>
        </p:txBody>
      </p:sp>
      <p:sp>
        <p:nvSpPr>
          <p:cNvPr id="184" name="Google Shape;184;p28"/>
          <p:cNvSpPr txBox="1"/>
          <p:nvPr/>
        </p:nvSpPr>
        <p:spPr>
          <a:xfrm>
            <a:off x="1538999" y="82480"/>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3 Assignment Questions are based</a:t>
            </a:r>
            <a:endParaRPr b="0" i="0" sz="1100" u="none" cap="none" strike="noStrike">
              <a:solidFill>
                <a:srgbClr val="000000"/>
              </a:solidFill>
              <a:latin typeface="Arial"/>
              <a:ea typeface="Arial"/>
              <a:cs typeface="Arial"/>
              <a:sym typeface="Arial"/>
            </a:endParaRPr>
          </a:p>
        </p:txBody>
      </p:sp>
      <p:sp>
        <p:nvSpPr>
          <p:cNvPr id="185" name="Google Shape;185;p28"/>
          <p:cNvSpPr txBox="1"/>
          <p:nvPr/>
        </p:nvSpPr>
        <p:spPr>
          <a:xfrm>
            <a:off x="5632825" y="1270575"/>
            <a:ext cx="3408300" cy="376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500">
                <a:solidFill>
                  <a:schemeClr val="dk1"/>
                </a:solidFill>
                <a:latin typeface="Times New Roman"/>
                <a:ea typeface="Times New Roman"/>
                <a:cs typeface="Times New Roman"/>
                <a:sym typeface="Times New Roman"/>
              </a:rPr>
              <a:t>👨‍🔬 Mark Granovetter</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Weak ties = acquaintances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Strong ties = close friends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1300">
                <a:solidFill>
                  <a:schemeClr val="dk1"/>
                </a:solidFill>
                <a:latin typeface="Times New Roman"/>
                <a:ea typeface="Times New Roman"/>
                <a:cs typeface="Times New Roman"/>
                <a:sym typeface="Times New Roman"/>
              </a:rPr>
              <a:t>👉 Weak ties = </a:t>
            </a:r>
            <a:r>
              <a:rPr b="1" lang="en-US" sz="1300">
                <a:solidFill>
                  <a:schemeClr val="dk1"/>
                </a:solidFill>
                <a:latin typeface="Times New Roman"/>
                <a:ea typeface="Times New Roman"/>
                <a:cs typeface="Times New Roman"/>
                <a:sym typeface="Times New Roman"/>
              </a:rPr>
              <a:t>job opportunities &amp; new info</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500">
                <a:solidFill>
                  <a:schemeClr val="dk1"/>
                </a:solidFill>
                <a:latin typeface="Times New Roman"/>
                <a:ea typeface="Times New Roman"/>
                <a:cs typeface="Times New Roman"/>
                <a:sym typeface="Times New Roman"/>
              </a:rPr>
              <a:t>🧠 Key Concepts</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Neighborhood overlap</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Bridges &amp; local bridges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Structural holes → advantage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500">
                <a:solidFill>
                  <a:schemeClr val="dk1"/>
                </a:solidFill>
                <a:latin typeface="Times New Roman"/>
                <a:ea typeface="Times New Roman"/>
                <a:cs typeface="Times New Roman"/>
                <a:sym typeface="Times New Roman"/>
              </a:rPr>
              <a:t>📏 Betweenness Centrality</a:t>
            </a:r>
            <a:endParaRPr b="1" sz="15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Measures control over information flow</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Helps detect communities</a:t>
            </a:r>
            <a:endParaRPr sz="13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4"/>
                                        </p:tgtEl>
                                        <p:attrNameLst>
                                          <p:attrName>style.visibility</p:attrName>
                                        </p:attrNameLst>
                                      </p:cBhvr>
                                      <p:to>
                                        <p:strVal val="visible"/>
                                      </p:to>
                                    </p:set>
                                    <p:anim calcmode="lin" valueType="num">
                                      <p:cBhvr additive="base">
                                        <p:cTn dur="500"/>
                                        <p:tgtEl>
                                          <p:spTgt spid="18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nvSpPr>
        <p:spPr>
          <a:xfrm>
            <a:off x="4" y="509267"/>
            <a:ext cx="7197300" cy="28398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2000" u="none" cap="none" strike="noStrike">
                <a:solidFill>
                  <a:schemeClr val="dk1"/>
                </a:solidFill>
                <a:latin typeface="Times New Roman"/>
                <a:ea typeface="Times New Roman"/>
                <a:cs typeface="Times New Roman"/>
                <a:sym typeface="Times New Roman"/>
              </a:rPr>
              <a:t>Selection and Social Influence</a:t>
            </a:r>
            <a:endParaRPr/>
          </a:p>
          <a:p>
            <a:pPr indent="-228600" lvl="0" marL="342900" marR="0" rtl="0" algn="l">
              <a:lnSpc>
                <a:spcPct val="100000"/>
              </a:lnSpc>
              <a:spcBef>
                <a:spcPts val="0"/>
              </a:spcBef>
              <a:spcAft>
                <a:spcPts val="0"/>
              </a:spcAft>
              <a:buClr>
                <a:schemeClr val="dk1"/>
              </a:buClr>
              <a:buSzPts val="18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2000" u="none" cap="none" strike="noStrike">
                <a:solidFill>
                  <a:schemeClr val="dk1"/>
                </a:solidFill>
                <a:latin typeface="Times New Roman"/>
                <a:ea typeface="Times New Roman"/>
                <a:cs typeface="Times New Roman"/>
                <a:sym typeface="Times New Roman"/>
              </a:rPr>
              <a:t>Interplay between Selection and Social Influence</a:t>
            </a:r>
            <a:endParaRPr/>
          </a:p>
          <a:p>
            <a:pPr indent="-228600" lvl="0" marL="342900" marR="0" rtl="0" algn="l">
              <a:lnSpc>
                <a:spcPct val="100000"/>
              </a:lnSpc>
              <a:spcBef>
                <a:spcPts val="0"/>
              </a:spcBef>
              <a:spcAft>
                <a:spcPts val="0"/>
              </a:spcAft>
              <a:buClr>
                <a:schemeClr val="dk1"/>
              </a:buClr>
              <a:buSzPts val="18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2000" u="none" cap="none" strike="noStrike">
                <a:solidFill>
                  <a:schemeClr val="dk1"/>
                </a:solidFill>
                <a:latin typeface="Times New Roman"/>
                <a:ea typeface="Times New Roman"/>
                <a:cs typeface="Times New Roman"/>
                <a:sym typeface="Times New Roman"/>
              </a:rPr>
              <a:t>Homophily - Definition and measurement</a:t>
            </a:r>
            <a:endParaRPr/>
          </a:p>
          <a:p>
            <a:pPr indent="-228600" lvl="0" marL="342900" marR="0" rtl="0" algn="l">
              <a:lnSpc>
                <a:spcPct val="100000"/>
              </a:lnSpc>
              <a:spcBef>
                <a:spcPts val="0"/>
              </a:spcBef>
              <a:spcAft>
                <a:spcPts val="0"/>
              </a:spcAft>
              <a:buClr>
                <a:schemeClr val="dk1"/>
              </a:buClr>
              <a:buSzPts val="18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Triadic Closure, Foci Closure and Membership Closure</a:t>
            </a:r>
            <a:endParaRPr/>
          </a:p>
          <a:p>
            <a:pPr indent="-228600" lvl="0" marL="342900" marR="0" rtl="0" algn="l">
              <a:lnSpc>
                <a:spcPct val="100000"/>
              </a:lnSpc>
              <a:spcBef>
                <a:spcPts val="0"/>
              </a:spcBef>
              <a:spcAft>
                <a:spcPts val="0"/>
              </a:spcAft>
              <a:buClr>
                <a:schemeClr val="dk1"/>
              </a:buClr>
              <a:buSzPts val="18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Quantifying the Effect of Triadic Closure</a:t>
            </a:r>
            <a:endParaRPr/>
          </a:p>
        </p:txBody>
      </p:sp>
      <p:sp>
        <p:nvSpPr>
          <p:cNvPr id="191" name="Google Shape;191;p29"/>
          <p:cNvSpPr txBox="1"/>
          <p:nvPr/>
        </p:nvSpPr>
        <p:spPr>
          <a:xfrm>
            <a:off x="1538999" y="695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4 Assignment Questions are based</a:t>
            </a:r>
            <a:endParaRPr b="0" i="0" sz="1100" u="none" cap="none" strike="noStrike">
              <a:solidFill>
                <a:srgbClr val="000000"/>
              </a:solidFill>
              <a:latin typeface="Arial"/>
              <a:ea typeface="Arial"/>
              <a:cs typeface="Arial"/>
              <a:sym typeface="Arial"/>
            </a:endParaRPr>
          </a:p>
        </p:txBody>
      </p:sp>
      <p:sp>
        <p:nvSpPr>
          <p:cNvPr id="192" name="Google Shape;192;p29"/>
          <p:cNvSpPr txBox="1"/>
          <p:nvPr/>
        </p:nvSpPr>
        <p:spPr>
          <a:xfrm>
            <a:off x="6035950" y="1090200"/>
            <a:ext cx="3177600" cy="405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Two Forces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Selection → “we choose similar people”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Influence → “we become similar”</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Homophily</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“Birds of a feather flock together”</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Closures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Triadic closure → friends of friends connect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Foci closure → same activity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Membership closure → same group</a:t>
            </a:r>
            <a:endParaRPr>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gtEl>
                                        <p:attrNameLst>
                                          <p:attrName>style.visibility</p:attrName>
                                        </p:attrNameLst>
                                      </p:cBhvr>
                                      <p:to>
                                        <p:strVal val="visible"/>
                                      </p:to>
                                    </p:set>
                                    <p:anim calcmode="lin" valueType="num">
                                      <p:cBhvr additive="base">
                                        <p:cTn dur="500"/>
                                        <p:tgtEl>
                                          <p:spTgt spid="19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nvSpPr>
        <p:spPr>
          <a:xfrm>
            <a:off x="58992" y="513375"/>
            <a:ext cx="7197300" cy="29631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Spatial Segregation: An Introduction</a:t>
            </a:r>
            <a:endParaRPr/>
          </a:p>
          <a:p>
            <a:pPr indent="-228600" lvl="0" marL="4572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Schelling Model and Simulation of the Schelling Model </a:t>
            </a:r>
            <a:endParaRPr b="0" i="0" sz="1600" u="none" cap="none" strike="noStrike">
              <a:solidFill>
                <a:schemeClr val="dk1"/>
              </a:solidFill>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Structural Balance</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Characterizing the structure of balanced networks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Balance Theorem</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Forming two coalitions</a:t>
            </a:r>
            <a:endParaRPr b="0" i="0" sz="1600" u="none" cap="none" strike="noStrike">
              <a:solidFill>
                <a:srgbClr val="000000"/>
              </a:solidFill>
              <a:latin typeface="Times New Roman"/>
              <a:ea typeface="Times New Roman"/>
              <a:cs typeface="Times New Roman"/>
              <a:sym typeface="Times New Roman"/>
            </a:endParaRPr>
          </a:p>
        </p:txBody>
      </p:sp>
      <p:sp>
        <p:nvSpPr>
          <p:cNvPr id="198" name="Google Shape;198;p30"/>
          <p:cNvSpPr txBox="1"/>
          <p:nvPr/>
        </p:nvSpPr>
        <p:spPr>
          <a:xfrm>
            <a:off x="1538999" y="746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5 Assignment Questions are based</a:t>
            </a:r>
            <a:endParaRPr b="0" i="0" sz="1100" u="none" cap="none" strike="noStrike">
              <a:solidFill>
                <a:srgbClr val="000000"/>
              </a:solidFill>
              <a:latin typeface="Arial"/>
              <a:ea typeface="Arial"/>
              <a:cs typeface="Arial"/>
              <a:sym typeface="Arial"/>
            </a:endParaRPr>
          </a:p>
        </p:txBody>
      </p:sp>
      <p:sp>
        <p:nvSpPr>
          <p:cNvPr id="199" name="Google Shape;199;p30"/>
          <p:cNvSpPr txBox="1"/>
          <p:nvPr/>
        </p:nvSpPr>
        <p:spPr>
          <a:xfrm>
            <a:off x="5591125" y="1506900"/>
            <a:ext cx="3344700" cy="346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 Thomas Schelling Model</a:t>
            </a:r>
            <a:endParaRPr b="1" sz="17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Small preferences → large segregation</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 Structural Balance</a:t>
            </a:r>
            <a:endParaRPr b="1" sz="17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Friend of friend = friend</a:t>
            </a:r>
            <a:endParaRPr sz="1500">
              <a:solidFill>
                <a:schemeClr val="dk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Enemy of enemy = friend</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 Balance Theorem</a:t>
            </a:r>
            <a:endParaRPr b="1" sz="17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latin typeface="Times New Roman"/>
                <a:ea typeface="Times New Roman"/>
                <a:cs typeface="Times New Roman"/>
                <a:sym typeface="Times New Roman"/>
              </a:rPr>
              <a:t>Networks split into </a:t>
            </a:r>
            <a:r>
              <a:rPr b="1" lang="en-US" sz="1500">
                <a:solidFill>
                  <a:schemeClr val="dk1"/>
                </a:solidFill>
                <a:latin typeface="Times New Roman"/>
                <a:ea typeface="Times New Roman"/>
                <a:cs typeface="Times New Roman"/>
                <a:sym typeface="Times New Roman"/>
              </a:rPr>
              <a:t>2 stable groups</a:t>
            </a:r>
            <a:endParaRPr b="1" sz="15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8"/>
                                        </p:tgtEl>
                                        <p:attrNameLst>
                                          <p:attrName>style.visibility</p:attrName>
                                        </p:attrNameLst>
                                      </p:cBhvr>
                                      <p:to>
                                        <p:strVal val="visible"/>
                                      </p:to>
                                    </p:set>
                                    <p:anim calcmode="lin" valueType="num">
                                      <p:cBhvr additive="base">
                                        <p:cTn dur="500"/>
                                        <p:tgtEl>
                                          <p:spTgt spid="19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nvSpPr>
        <p:spPr>
          <a:xfrm>
            <a:off x="56458" y="505752"/>
            <a:ext cx="7197300" cy="34863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The Web Graph</a:t>
            </a:r>
            <a:endParaRPr/>
          </a:p>
          <a:p>
            <a:pPr indent="-228600" lvl="0" marL="5715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Collecting the Web Graph</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Equal Coin Distribution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Random Walk Coin Distribution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Google Page Ranking Using Web Graph</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Implementing PageRank Using Points Distribution Method</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Implementing PageRank Using Random Walk Method</a:t>
            </a:r>
            <a:endParaRPr sz="1600">
              <a:latin typeface="Times New Roman"/>
              <a:ea typeface="Times New Roman"/>
              <a:cs typeface="Times New Roman"/>
              <a:sym typeface="Times New Roman"/>
            </a:endParaRPr>
          </a:p>
        </p:txBody>
      </p:sp>
      <p:sp>
        <p:nvSpPr>
          <p:cNvPr id="205" name="Google Shape;205;p31"/>
          <p:cNvSpPr txBox="1"/>
          <p:nvPr/>
        </p:nvSpPr>
        <p:spPr>
          <a:xfrm>
            <a:off x="1538999" y="60680"/>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6 Assignment Questions are based</a:t>
            </a:r>
            <a:endParaRPr b="0" i="0" sz="1100" u="none" cap="none" strike="noStrike">
              <a:solidFill>
                <a:srgbClr val="000000"/>
              </a:solidFill>
              <a:latin typeface="Arial"/>
              <a:ea typeface="Arial"/>
              <a:cs typeface="Arial"/>
              <a:sym typeface="Arial"/>
            </a:endParaRPr>
          </a:p>
        </p:txBody>
      </p:sp>
      <p:sp>
        <p:nvSpPr>
          <p:cNvPr id="206" name="Google Shape;206;p31"/>
          <p:cNvSpPr txBox="1"/>
          <p:nvPr/>
        </p:nvSpPr>
        <p:spPr>
          <a:xfrm>
            <a:off x="5769050" y="1417950"/>
            <a:ext cx="3000000" cy="371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Web as a Network</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Pages = nodes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Links = edges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PageRank Idea</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Important pages get more links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Methods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Coin distribution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Random walk</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a:solidFill>
                  <a:schemeClr val="dk1"/>
                </a:solidFill>
                <a:latin typeface="Times New Roman"/>
                <a:ea typeface="Times New Roman"/>
                <a:cs typeface="Times New Roman"/>
                <a:sym typeface="Times New Roman"/>
              </a:rPr>
              <a:t>👉 “Surfing the web randomly finds important pages!”</a:t>
            </a:r>
            <a:endParaRPr>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500"/>
                                        <p:tgtEl>
                                          <p:spTgt spid="20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nvSpPr>
        <p:spPr>
          <a:xfrm>
            <a:off x="80984" y="485338"/>
            <a:ext cx="7197300" cy="33324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We Follow. Why do we Follow?</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Diffusion in Networks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Modeling Diffusion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Impact of Communities on Diffusion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Cascade and Clusters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cap="none" strike="noStrike">
                <a:solidFill>
                  <a:schemeClr val="dk1"/>
                </a:solidFill>
                <a:latin typeface="Times New Roman"/>
                <a:ea typeface="Times New Roman"/>
                <a:cs typeface="Times New Roman"/>
                <a:sym typeface="Times New Roman"/>
              </a:rPr>
              <a:t>Knowledge Thresholds and the Collective Action</a:t>
            </a:r>
            <a:br>
              <a:rPr b="0" i="0" lang="en-US" sz="1800" u="none" cap="none" strike="noStrike">
                <a:solidFill>
                  <a:schemeClr val="dk1"/>
                </a:solidFill>
                <a:latin typeface="Times New Roman"/>
                <a:ea typeface="Times New Roman"/>
                <a:cs typeface="Times New Roman"/>
                <a:sym typeface="Times New Roman"/>
              </a:rPr>
            </a:br>
            <a:endParaRPr b="0" i="0" sz="1400" u="none" cap="none" strike="noStrike">
              <a:solidFill>
                <a:srgbClr val="000000"/>
              </a:solidFill>
              <a:latin typeface="Arial"/>
              <a:ea typeface="Arial"/>
              <a:cs typeface="Arial"/>
              <a:sym typeface="Arial"/>
            </a:endParaRPr>
          </a:p>
        </p:txBody>
      </p:sp>
      <p:sp>
        <p:nvSpPr>
          <p:cNvPr id="212" name="Google Shape;212;p32"/>
          <p:cNvSpPr txBox="1"/>
          <p:nvPr/>
        </p:nvSpPr>
        <p:spPr>
          <a:xfrm>
            <a:off x="1538999" y="607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7 Assignment Questions are based</a:t>
            </a:r>
            <a:endParaRPr b="0" i="0" sz="1100" u="none" cap="none" strike="noStrike">
              <a:solidFill>
                <a:srgbClr val="000000"/>
              </a:solidFill>
              <a:latin typeface="Arial"/>
              <a:ea typeface="Arial"/>
              <a:cs typeface="Arial"/>
              <a:sym typeface="Arial"/>
            </a:endParaRPr>
          </a:p>
        </p:txBody>
      </p:sp>
      <p:sp>
        <p:nvSpPr>
          <p:cNvPr id="213" name="Google Shape;213;p32"/>
          <p:cNvSpPr txBox="1"/>
          <p:nvPr/>
        </p:nvSpPr>
        <p:spPr>
          <a:xfrm>
            <a:off x="5769075" y="1501325"/>
            <a:ext cx="3000000" cy="320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 Diffusion in Networks</a:t>
            </a:r>
            <a:endParaRPr b="1" sz="17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Ideas, trends, viruses spread</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 Cascades</a:t>
            </a:r>
            <a:endParaRPr b="1" sz="17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Small trigger → massive adoption</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 Threshold Model</a:t>
            </a:r>
            <a:endParaRPr b="1" sz="1700">
              <a:solidFill>
                <a:schemeClr val="dk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People adopt only when enough neighbors do</a:t>
            </a:r>
            <a:endParaRPr sz="15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
                                        </p:tgtEl>
                                        <p:attrNameLst>
                                          <p:attrName>style.visibility</p:attrName>
                                        </p:attrNameLst>
                                      </p:cBhvr>
                                      <p:to>
                                        <p:strVal val="visible"/>
                                      </p:to>
                                    </p:set>
                                    <p:anim calcmode="lin" valueType="num">
                                      <p:cBhvr additive="base">
                                        <p:cTn dur="500"/>
                                        <p:tgtEl>
                                          <p:spTgt spid="21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txBox="1"/>
          <p:nvPr/>
        </p:nvSpPr>
        <p:spPr>
          <a:xfrm>
            <a:off x="129437" y="517088"/>
            <a:ext cx="7197300" cy="29631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Hubs and Authorities</a:t>
            </a:r>
            <a:endParaRPr/>
          </a:p>
          <a:p>
            <a:pPr indent="-228600" lvl="0" marL="5715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Principle of Repeated Improvement </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PageRank Revisited - Conservation and Convergence, </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Convergence in Repeated Matrix Multiplication (Pre-requisite 1)</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Addition of Two Vectors (Pre-requisite 2)</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PageRank as a Matrix Operation</a:t>
            </a:r>
            <a:endParaRPr b="0" i="0" sz="1600" u="none" cap="none" strike="noStrike">
              <a:solidFill>
                <a:srgbClr val="000000"/>
              </a:solidFill>
              <a:latin typeface="Times New Roman"/>
              <a:ea typeface="Times New Roman"/>
              <a:cs typeface="Times New Roman"/>
              <a:sym typeface="Times New Roman"/>
            </a:endParaRPr>
          </a:p>
        </p:txBody>
      </p:sp>
      <p:sp>
        <p:nvSpPr>
          <p:cNvPr id="219" name="Google Shape;219;p33"/>
          <p:cNvSpPr txBox="1"/>
          <p:nvPr/>
        </p:nvSpPr>
        <p:spPr>
          <a:xfrm>
            <a:off x="1539000" y="73510"/>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8 Assignment Questions are based</a:t>
            </a:r>
            <a:endParaRPr b="0" i="0" sz="1100" u="none" cap="none" strike="noStrike">
              <a:solidFill>
                <a:srgbClr val="000000"/>
              </a:solidFill>
              <a:latin typeface="Arial"/>
              <a:ea typeface="Arial"/>
              <a:cs typeface="Arial"/>
              <a:sym typeface="Arial"/>
            </a:endParaRPr>
          </a:p>
        </p:txBody>
      </p:sp>
      <p:sp>
        <p:nvSpPr>
          <p:cNvPr id="220" name="Google Shape;220;p33"/>
          <p:cNvSpPr txBox="1"/>
          <p:nvPr/>
        </p:nvSpPr>
        <p:spPr>
          <a:xfrm>
            <a:off x="5977575" y="2071300"/>
            <a:ext cx="3000000" cy="28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600">
                <a:solidFill>
                  <a:srgbClr val="000000"/>
                </a:solidFill>
                <a:latin typeface="Times New Roman"/>
                <a:ea typeface="Times New Roman"/>
                <a:cs typeface="Times New Roman"/>
                <a:sym typeface="Times New Roman"/>
              </a:rPr>
              <a:t>🌟 Concepts</a:t>
            </a:r>
            <a:endParaRPr b="1" sz="1600">
              <a:solidFill>
                <a:srgbClr val="000000"/>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rgbClr val="000000"/>
              </a:buClr>
              <a:buSzPts val="1400"/>
              <a:buFont typeface="Times New Roman"/>
              <a:buChar char="●"/>
            </a:pPr>
            <a:r>
              <a:rPr lang="en-US">
                <a:solidFill>
                  <a:srgbClr val="000000"/>
                </a:solidFill>
                <a:latin typeface="Times New Roman"/>
                <a:ea typeface="Times New Roman"/>
                <a:cs typeface="Times New Roman"/>
                <a:sym typeface="Times New Roman"/>
              </a:rPr>
              <a:t>Hubs → point to good pages</a:t>
            </a:r>
            <a:endParaRPr>
              <a:solidFill>
                <a:srgbClr val="000000"/>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000000"/>
              </a:buClr>
              <a:buSzPts val="1400"/>
              <a:buFont typeface="Times New Roman"/>
              <a:buChar char="●"/>
            </a:pPr>
            <a:r>
              <a:rPr lang="en-US">
                <a:solidFill>
                  <a:srgbClr val="000000"/>
                </a:solidFill>
                <a:latin typeface="Times New Roman"/>
                <a:ea typeface="Times New Roman"/>
                <a:cs typeface="Times New Roman"/>
                <a:sym typeface="Times New Roman"/>
              </a:rPr>
              <a:t>Authorities → trusted pages</a:t>
            </a:r>
            <a:endParaRPr>
              <a:solidFill>
                <a:srgbClr val="000000"/>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rgbClr val="000000"/>
                </a:solidFill>
                <a:latin typeface="Times New Roman"/>
                <a:ea typeface="Times New Roman"/>
                <a:cs typeface="Times New Roman"/>
                <a:sym typeface="Times New Roman"/>
              </a:rPr>
              <a:t>🔁 Repeated Improvement</a:t>
            </a:r>
            <a:endParaRPr b="1" sz="1600">
              <a:solidFill>
                <a:srgbClr val="000000"/>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rgbClr val="000000"/>
              </a:buClr>
              <a:buSzPts val="1400"/>
              <a:buFont typeface="Times New Roman"/>
              <a:buChar char="●"/>
            </a:pPr>
            <a:r>
              <a:rPr lang="en-US">
                <a:solidFill>
                  <a:srgbClr val="000000"/>
                </a:solidFill>
                <a:latin typeface="Times New Roman"/>
                <a:ea typeface="Times New Roman"/>
                <a:cs typeface="Times New Roman"/>
                <a:sym typeface="Times New Roman"/>
              </a:rPr>
              <a:t>Iterative ranking</a:t>
            </a:r>
            <a:endParaRPr>
              <a:solidFill>
                <a:srgbClr val="000000"/>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rgbClr val="000000"/>
                </a:solidFill>
                <a:latin typeface="Times New Roman"/>
                <a:ea typeface="Times New Roman"/>
                <a:cs typeface="Times New Roman"/>
                <a:sym typeface="Times New Roman"/>
              </a:rPr>
              <a:t>🧮 PageRank as Matrix</a:t>
            </a:r>
            <a:endParaRPr b="1" sz="1600">
              <a:solidFill>
                <a:srgbClr val="000000"/>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rgbClr val="000000"/>
              </a:buClr>
              <a:buSzPts val="1400"/>
              <a:buFont typeface="Times New Roman"/>
              <a:buChar char="●"/>
            </a:pPr>
            <a:r>
              <a:rPr lang="en-US">
                <a:solidFill>
                  <a:srgbClr val="000000"/>
                </a:solidFill>
                <a:latin typeface="Times New Roman"/>
                <a:ea typeface="Times New Roman"/>
                <a:cs typeface="Times New Roman"/>
                <a:sym typeface="Times New Roman"/>
              </a:rPr>
              <a:t>Converges to stable importance</a:t>
            </a:r>
            <a:endParaRPr>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500"/>
                                        <p:tgtEl>
                                          <p:spTgt spid="2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4"/>
          <p:cNvSpPr txBox="1"/>
          <p:nvPr/>
        </p:nvSpPr>
        <p:spPr>
          <a:xfrm>
            <a:off x="-12" y="553349"/>
            <a:ext cx="7197300" cy="3301500"/>
          </a:xfrm>
          <a:prstGeom prst="rect">
            <a:avLst/>
          </a:prstGeom>
          <a:noFill/>
          <a:ln>
            <a:noFill/>
          </a:ln>
        </p:spPr>
        <p:txBody>
          <a:bodyPr anchorCtr="0" anchor="t" bIns="34275" lIns="68575" spcFirstLastPara="1" rIns="68575" wrap="square" tIns="34275">
            <a:spAutoFit/>
          </a:bodyPr>
          <a:lstStyle/>
          <a:p>
            <a:pPr indent="-342900" lvl="0" marL="457200" rtl="0" algn="l">
              <a:spcBef>
                <a:spcPts val="0"/>
              </a:spcBef>
              <a:spcAft>
                <a:spcPts val="0"/>
              </a:spcAft>
              <a:buClr>
                <a:schemeClr val="dk1"/>
              </a:buClr>
              <a:buSzPts val="1800"/>
              <a:buAutoNum type="arabicPeriod"/>
            </a:pPr>
            <a:r>
              <a:rPr lang="en-US">
                <a:solidFill>
                  <a:schemeClr val="dk1"/>
                </a:solidFill>
                <a:latin typeface="Times New Roman"/>
                <a:ea typeface="Times New Roman"/>
                <a:cs typeface="Times New Roman"/>
                <a:sym typeface="Times New Roman"/>
              </a:rPr>
              <a:t>Introduction to Power Law</a:t>
            </a:r>
            <a:endParaRPr>
              <a:solidFill>
                <a:schemeClr val="dk1"/>
              </a:solidFill>
            </a:endParaRPr>
          </a:p>
          <a:p>
            <a:pPr indent="-228600" lvl="0" marL="34290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AutoNum type="arabicPeriod"/>
            </a:pPr>
            <a:r>
              <a:rPr lang="en-US">
                <a:solidFill>
                  <a:schemeClr val="dk1"/>
                </a:solidFill>
                <a:latin typeface="Times New Roman"/>
                <a:ea typeface="Times New Roman"/>
                <a:cs typeface="Times New Roman"/>
                <a:sym typeface="Times New Roman"/>
              </a:rPr>
              <a:t>Why do Normal Distributions Appear? </a:t>
            </a:r>
            <a:endParaRPr>
              <a:solidFill>
                <a:schemeClr val="dk1"/>
              </a:solidFill>
              <a:latin typeface="Times New Roman"/>
              <a:ea typeface="Times New Roman"/>
              <a:cs typeface="Times New Roman"/>
              <a:sym typeface="Times New Roman"/>
            </a:endParaRPr>
          </a:p>
          <a:p>
            <a:pPr indent="-228600" lvl="0" marL="45720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AutoNum type="arabicPeriod"/>
            </a:pPr>
            <a:r>
              <a:rPr lang="en-US">
                <a:solidFill>
                  <a:schemeClr val="dk1"/>
                </a:solidFill>
                <a:latin typeface="Times New Roman"/>
                <a:ea typeface="Times New Roman"/>
                <a:cs typeface="Times New Roman"/>
                <a:sym typeface="Times New Roman"/>
              </a:rPr>
              <a:t>Power Law emerges in WWW graphs</a:t>
            </a:r>
            <a:endParaRPr>
              <a:solidFill>
                <a:schemeClr val="dk1"/>
              </a:solidFill>
            </a:endParaRPr>
          </a:p>
          <a:p>
            <a:pPr indent="-228600" lvl="0" marL="34290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AutoNum type="arabicPeriod"/>
            </a:pPr>
            <a:r>
              <a:rPr lang="en-US">
                <a:solidFill>
                  <a:schemeClr val="dk1"/>
                </a:solidFill>
                <a:latin typeface="Times New Roman"/>
                <a:ea typeface="Times New Roman"/>
                <a:cs typeface="Times New Roman"/>
                <a:sym typeface="Times New Roman"/>
              </a:rPr>
              <a:t>Rich Get Richer Phenomenon</a:t>
            </a:r>
            <a:endParaRPr>
              <a:solidFill>
                <a:schemeClr val="dk1"/>
              </a:solidFill>
            </a:endParaRPr>
          </a:p>
          <a:p>
            <a:pPr indent="-228600" lvl="0" marL="34290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AutoNum type="arabicPeriod"/>
            </a:pPr>
            <a:r>
              <a:rPr lang="en-US">
                <a:solidFill>
                  <a:schemeClr val="dk1"/>
                </a:solidFill>
                <a:latin typeface="Times New Roman"/>
                <a:ea typeface="Times New Roman"/>
                <a:cs typeface="Times New Roman"/>
                <a:sym typeface="Times New Roman"/>
              </a:rPr>
              <a:t>Rich-getting-richer Phenomenon (Barabasi-Albert Model)</a:t>
            </a:r>
            <a:endParaRPr>
              <a:solidFill>
                <a:schemeClr val="dk1"/>
              </a:solidFill>
            </a:endParaRPr>
          </a:p>
          <a:p>
            <a:pPr indent="-228600" lvl="0" marL="34290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AutoNum type="arabicPeriod"/>
            </a:pPr>
            <a:r>
              <a:rPr lang="en-US">
                <a:solidFill>
                  <a:schemeClr val="dk1"/>
                </a:solidFill>
                <a:latin typeface="Times New Roman"/>
                <a:ea typeface="Times New Roman"/>
                <a:cs typeface="Times New Roman"/>
                <a:sym typeface="Times New Roman"/>
              </a:rPr>
              <a:t>Random Graph (Erdos- Renyi Model)</a:t>
            </a:r>
            <a:endParaRPr>
              <a:solidFill>
                <a:schemeClr val="dk1"/>
              </a:solidFill>
              <a:latin typeface="Times New Roman"/>
              <a:ea typeface="Times New Roman"/>
              <a:cs typeface="Times New Roman"/>
              <a:sym typeface="Times New Roman"/>
            </a:endParaRPr>
          </a:p>
          <a:p>
            <a:pPr indent="-228600" lvl="0" marL="34290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AutoNum type="arabicPeriod"/>
            </a:pPr>
            <a:r>
              <a:rPr lang="en-US">
                <a:solidFill>
                  <a:schemeClr val="dk1"/>
                </a:solidFill>
                <a:latin typeface="Times New Roman"/>
                <a:ea typeface="Times New Roman"/>
                <a:cs typeface="Times New Roman"/>
                <a:sym typeface="Times New Roman"/>
              </a:rPr>
              <a:t>Forced Versus Random Removal of Nodes (Attack Survivability)</a:t>
            </a:r>
            <a:endParaRPr>
              <a:solidFill>
                <a:schemeClr val="dk1"/>
              </a:solidFill>
              <a:latin typeface="Times New Roman"/>
              <a:ea typeface="Times New Roman"/>
              <a:cs typeface="Times New Roman"/>
              <a:sym typeface="Times New Roman"/>
            </a:endParaRPr>
          </a:p>
        </p:txBody>
      </p:sp>
      <p:sp>
        <p:nvSpPr>
          <p:cNvPr id="226" name="Google Shape;226;p34"/>
          <p:cNvSpPr txBox="1"/>
          <p:nvPr/>
        </p:nvSpPr>
        <p:spPr>
          <a:xfrm>
            <a:off x="1538999" y="746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9 Assignment Questions are based</a:t>
            </a:r>
            <a:endParaRPr b="0" i="0" sz="1100" u="none" cap="none" strike="noStrike">
              <a:solidFill>
                <a:srgbClr val="000000"/>
              </a:solidFill>
              <a:latin typeface="Arial"/>
              <a:ea typeface="Arial"/>
              <a:cs typeface="Arial"/>
              <a:sym typeface="Arial"/>
            </a:endParaRPr>
          </a:p>
        </p:txBody>
      </p:sp>
      <p:sp>
        <p:nvSpPr>
          <p:cNvPr id="227" name="Google Shape;227;p34"/>
          <p:cNvSpPr txBox="1"/>
          <p:nvPr/>
        </p:nvSpPr>
        <p:spPr>
          <a:xfrm>
            <a:off x="5796850" y="1148700"/>
            <a:ext cx="3000000" cy="399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Normal vs Power Law</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Normal → average behavior</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Power law → few big, many small</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Albert-László Barabási Model</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Preferential attachment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 “Rich get richer!”</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Network Robustness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Random removal → safe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Target hubs → collapse</a:t>
            </a:r>
            <a:endParaRPr>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gtEl>
                                        <p:attrNameLst>
                                          <p:attrName>style.visibility</p:attrName>
                                        </p:attrNameLst>
                                      </p:cBhvr>
                                      <p:to>
                                        <p:strVal val="visible"/>
                                      </p:to>
                                    </p:set>
                                    <p:anim calcmode="lin" valueType="num">
                                      <p:cBhvr additive="base">
                                        <p:cTn dur="500"/>
                                        <p:tgtEl>
                                          <p:spTgt spid="2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nvSpPr>
        <p:spPr>
          <a:xfrm>
            <a:off x="125102" y="473404"/>
            <a:ext cx="7197300" cy="33015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400" u="none" cap="none" strike="noStrike">
                <a:solidFill>
                  <a:schemeClr val="dk1"/>
                </a:solidFill>
                <a:latin typeface="Times New Roman"/>
                <a:ea typeface="Times New Roman"/>
                <a:cs typeface="Times New Roman"/>
                <a:sym typeface="Times New Roman"/>
              </a:rPr>
              <a:t>Rich Get Richer - A Possible Reason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400" u="none" cap="none" strike="noStrike">
                <a:solidFill>
                  <a:schemeClr val="dk1"/>
                </a:solidFill>
                <a:latin typeface="Times New Roman"/>
                <a:ea typeface="Times New Roman"/>
                <a:cs typeface="Times New Roman"/>
                <a:sym typeface="Times New Roman"/>
              </a:rPr>
              <a:t>Rich Get Richer - The Long Tail</a:t>
            </a:r>
            <a:endParaRPr/>
          </a:p>
          <a:p>
            <a:pPr indent="-228600" lvl="0" marL="45720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400" u="none" cap="none" strike="noStrike">
                <a:solidFill>
                  <a:schemeClr val="dk1"/>
                </a:solidFill>
                <a:latin typeface="Times New Roman"/>
                <a:ea typeface="Times New Roman"/>
                <a:cs typeface="Times New Roman"/>
                <a:sym typeface="Times New Roman"/>
              </a:rPr>
              <a:t>Epidemics- An Introduction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400" u="none" cap="none" strike="noStrike">
                <a:solidFill>
                  <a:schemeClr val="dk1"/>
                </a:solidFill>
                <a:latin typeface="Times New Roman"/>
                <a:ea typeface="Times New Roman"/>
                <a:cs typeface="Times New Roman"/>
                <a:sym typeface="Times New Roman"/>
              </a:rPr>
              <a:t>Simple Branching Process for Modeling Epidemics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400" u="none" cap="none" strike="noStrike">
                <a:solidFill>
                  <a:srgbClr val="000000"/>
                </a:solidFill>
                <a:latin typeface="Times New Roman"/>
                <a:ea typeface="Times New Roman"/>
                <a:cs typeface="Times New Roman"/>
                <a:sym typeface="Times New Roman"/>
              </a:rPr>
              <a:t>Reproductive number</a:t>
            </a:r>
            <a:endParaRPr/>
          </a:p>
          <a:p>
            <a:pPr indent="-228600" lvl="0" marL="342900" marR="0" rtl="0" algn="l">
              <a:lnSpc>
                <a:spcPct val="100000"/>
              </a:lnSpc>
              <a:spcBef>
                <a:spcPts val="0"/>
              </a:spcBef>
              <a:spcAft>
                <a:spcPts val="0"/>
              </a:spcAft>
              <a:buClr>
                <a:schemeClr val="dk1"/>
              </a:buClr>
              <a:buSzPts val="18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400" u="none" cap="none" strike="noStrike">
                <a:solidFill>
                  <a:srgbClr val="000000"/>
                </a:solidFill>
                <a:latin typeface="Times New Roman"/>
                <a:ea typeface="Times New Roman"/>
                <a:cs typeface="Times New Roman"/>
                <a:sym typeface="Times New Roman"/>
              </a:rPr>
              <a:t>SIR and SIS spreading models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400" u="none" cap="none" strike="noStrike">
                <a:solidFill>
                  <a:srgbClr val="000000"/>
                </a:solidFill>
                <a:latin typeface="Times New Roman"/>
                <a:ea typeface="Times New Roman"/>
                <a:cs typeface="Times New Roman"/>
                <a:sym typeface="Times New Roman"/>
              </a:rPr>
              <a:t>Percolation model</a:t>
            </a:r>
            <a:endParaRPr b="0" i="0" sz="1400" u="none" cap="none" strike="noStrike">
              <a:solidFill>
                <a:srgbClr val="000000"/>
              </a:solidFill>
              <a:latin typeface="Times New Roman"/>
              <a:ea typeface="Times New Roman"/>
              <a:cs typeface="Times New Roman"/>
              <a:sym typeface="Times New Roman"/>
            </a:endParaRPr>
          </a:p>
        </p:txBody>
      </p:sp>
      <p:sp>
        <p:nvSpPr>
          <p:cNvPr id="233" name="Google Shape;233;p35"/>
          <p:cNvSpPr txBox="1"/>
          <p:nvPr/>
        </p:nvSpPr>
        <p:spPr>
          <a:xfrm>
            <a:off x="1398761" y="68700"/>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10 Assignment Questions are based</a:t>
            </a:r>
            <a:endParaRPr b="0" i="0" sz="1100" u="none" cap="none" strike="noStrike">
              <a:solidFill>
                <a:srgbClr val="000000"/>
              </a:solidFill>
              <a:latin typeface="Arial"/>
              <a:ea typeface="Arial"/>
              <a:cs typeface="Arial"/>
              <a:sym typeface="Arial"/>
            </a:endParaRPr>
          </a:p>
        </p:txBody>
      </p:sp>
      <p:sp>
        <p:nvSpPr>
          <p:cNvPr id="234" name="Google Shape;234;p35"/>
          <p:cNvSpPr txBox="1"/>
          <p:nvPr/>
        </p:nvSpPr>
        <p:spPr>
          <a:xfrm>
            <a:off x="6033200" y="1658950"/>
            <a:ext cx="3000000" cy="330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Spread Models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Branching process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R₀ (reproduction number)</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Models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SIR → recovered immunity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SIS → reinfection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Percolation</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When spread becomes unstoppable</a:t>
            </a:r>
            <a:endParaRPr>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nvSpPr>
        <p:spPr>
          <a:xfrm>
            <a:off x="86792" y="763600"/>
            <a:ext cx="7197300" cy="24396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Small World Effect - An Introduction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Milgram's Experiment </a:t>
            </a:r>
            <a:endParaRPr b="0" i="0" sz="1600" u="none" cap="none" strike="noStrike">
              <a:solidFill>
                <a:srgbClr val="000000"/>
              </a:solidFill>
              <a:latin typeface="Times New Roman"/>
              <a:ea typeface="Times New Roman"/>
              <a:cs typeface="Times New Roman"/>
              <a:sym typeface="Times New Roman"/>
            </a:endParaRPr>
          </a:p>
          <a:p>
            <a:pPr indent="-228600" lvl="0" marL="4572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The Reason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The Generative Model</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Decentralized Search</a:t>
            </a:r>
            <a:endParaRPr b="0" i="0" sz="1600" u="none" cap="none" strike="noStrike">
              <a:solidFill>
                <a:srgbClr val="000000"/>
              </a:solidFill>
              <a:latin typeface="Times New Roman"/>
              <a:ea typeface="Times New Roman"/>
              <a:cs typeface="Times New Roman"/>
              <a:sym typeface="Times New Roman"/>
            </a:endParaRPr>
          </a:p>
        </p:txBody>
      </p:sp>
      <p:sp>
        <p:nvSpPr>
          <p:cNvPr id="240" name="Google Shape;240;p36"/>
          <p:cNvSpPr txBox="1"/>
          <p:nvPr/>
        </p:nvSpPr>
        <p:spPr>
          <a:xfrm>
            <a:off x="1538999" y="1163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11 Assignment Questions are based</a:t>
            </a:r>
            <a:endParaRPr b="0" i="0" sz="1100" u="none" cap="none" strike="noStrike">
              <a:solidFill>
                <a:srgbClr val="000000"/>
              </a:solidFill>
              <a:latin typeface="Arial"/>
              <a:ea typeface="Arial"/>
              <a:cs typeface="Arial"/>
              <a:sym typeface="Arial"/>
            </a:endParaRPr>
          </a:p>
        </p:txBody>
      </p:sp>
      <p:sp>
        <p:nvSpPr>
          <p:cNvPr id="241" name="Google Shape;241;p36"/>
          <p:cNvSpPr txBox="1"/>
          <p:nvPr/>
        </p:nvSpPr>
        <p:spPr>
          <a:xfrm>
            <a:off x="5755175" y="1654250"/>
            <a:ext cx="3000000" cy="306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Stanley Milgram Experiment</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“Six degrees of separation”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Why It Works?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Short paths exist in large networks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Decentralized Search</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People find paths using local info</a:t>
            </a:r>
            <a:endParaRPr>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
                                        </p:tgtEl>
                                        <p:attrNameLst>
                                          <p:attrName>style.visibility</p:attrName>
                                        </p:attrNameLst>
                                      </p:cBhvr>
                                      <p:to>
                                        <p:strVal val="visible"/>
                                      </p:to>
                                    </p:set>
                                    <p:anim calcmode="lin" valueType="num">
                                      <p:cBhvr additive="base">
                                        <p:cTn dur="500"/>
                                        <p:tgtEl>
                                          <p:spTgt spid="24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nvSpPr>
        <p:spPr>
          <a:xfrm>
            <a:off x="189925" y="516313"/>
            <a:ext cx="7197300" cy="19164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PseudoCores : Introduction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chemeClr val="dk1"/>
                </a:solidFill>
                <a:latin typeface="Times New Roman"/>
                <a:ea typeface="Times New Roman"/>
                <a:cs typeface="Times New Roman"/>
                <a:sym typeface="Times New Roman"/>
              </a:rPr>
              <a:t>How to be Viral</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Who are the right key nodes?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600" u="none" cap="none" strike="noStrike">
                <a:solidFill>
                  <a:srgbClr val="000000"/>
                </a:solidFill>
                <a:latin typeface="Times New Roman"/>
                <a:ea typeface="Times New Roman"/>
                <a:cs typeface="Times New Roman"/>
                <a:sym typeface="Times New Roman"/>
              </a:rPr>
              <a:t>Finding the right key nodes (the core)</a:t>
            </a:r>
            <a:endParaRPr b="0" i="0" sz="1600" u="none" cap="none" strike="noStrike">
              <a:solidFill>
                <a:srgbClr val="000000"/>
              </a:solidFill>
              <a:latin typeface="Times New Roman"/>
              <a:ea typeface="Times New Roman"/>
              <a:cs typeface="Times New Roman"/>
              <a:sym typeface="Times New Roman"/>
            </a:endParaRPr>
          </a:p>
        </p:txBody>
      </p:sp>
      <p:sp>
        <p:nvSpPr>
          <p:cNvPr id="247" name="Google Shape;247;p37"/>
          <p:cNvSpPr txBox="1"/>
          <p:nvPr/>
        </p:nvSpPr>
        <p:spPr>
          <a:xfrm>
            <a:off x="1538999" y="746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US" sz="1800" u="none" cap="none" strike="noStrike">
                <a:solidFill>
                  <a:schemeClr val="lt1"/>
                </a:solidFill>
                <a:latin typeface="Times New Roman"/>
                <a:ea typeface="Times New Roman"/>
                <a:cs typeface="Times New Roman"/>
                <a:sym typeface="Times New Roman"/>
              </a:rPr>
              <a:t>Topics on which Week 12 Assignment Questions are based</a:t>
            </a:r>
            <a:endParaRPr b="0" i="0" sz="1100" u="none" cap="none" strike="noStrike">
              <a:solidFill>
                <a:srgbClr val="000000"/>
              </a:solidFill>
              <a:latin typeface="Arial"/>
              <a:ea typeface="Arial"/>
              <a:cs typeface="Arial"/>
              <a:sym typeface="Arial"/>
            </a:endParaRPr>
          </a:p>
        </p:txBody>
      </p:sp>
      <p:sp>
        <p:nvSpPr>
          <p:cNvPr id="248" name="Google Shape;248;p37"/>
          <p:cNvSpPr txBox="1"/>
          <p:nvPr/>
        </p:nvSpPr>
        <p:spPr>
          <a:xfrm>
            <a:off x="5880300" y="1320625"/>
            <a:ext cx="3000000" cy="371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Key Idea</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Not all nodes are equal</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Going Viral</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latin typeface="Times New Roman"/>
                <a:ea typeface="Times New Roman"/>
                <a:cs typeface="Times New Roman"/>
                <a:sym typeface="Times New Roman"/>
              </a:rPr>
              <a:t>Needs the </a:t>
            </a:r>
            <a:r>
              <a:rPr b="1" lang="en-US">
                <a:solidFill>
                  <a:schemeClr val="dk1"/>
                </a:solidFill>
                <a:latin typeface="Times New Roman"/>
                <a:ea typeface="Times New Roman"/>
                <a:cs typeface="Times New Roman"/>
                <a:sym typeface="Times New Roman"/>
              </a:rPr>
              <a:t>right nodes</a:t>
            </a:r>
            <a:r>
              <a:rPr lang="en-US">
                <a:solidFill>
                  <a:schemeClr val="dk1"/>
                </a:solidFill>
                <a:latin typeface="Times New Roman"/>
                <a:ea typeface="Times New Roman"/>
                <a:cs typeface="Times New Roman"/>
                <a:sym typeface="Times New Roman"/>
              </a:rPr>
              <a:t>, not just many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600">
                <a:solidFill>
                  <a:schemeClr val="dk1"/>
                </a:solidFill>
                <a:latin typeface="Times New Roman"/>
                <a:ea typeface="Times New Roman"/>
                <a:cs typeface="Times New Roman"/>
                <a:sym typeface="Times New Roman"/>
              </a:rPr>
              <a:t>🧠 Core Nodes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Identified using k-shell decomposition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a:solidFill>
                  <a:schemeClr val="dk1"/>
                </a:solidFill>
                <a:latin typeface="Times New Roman"/>
                <a:ea typeface="Times New Roman"/>
                <a:cs typeface="Times New Roman"/>
                <a:sym typeface="Times New Roman"/>
              </a:rPr>
              <a:t>👉 “Influencers are structurally central, not just popular!”</a:t>
            </a:r>
            <a:endParaRPr>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1</a:t>
            </a:r>
            <a:endParaRPr b="1" i="0" sz="1800" u="none" cap="none" strike="noStrike">
              <a:solidFill>
                <a:schemeClr val="lt1"/>
              </a:solidFill>
              <a:latin typeface="Times New Roman"/>
              <a:ea typeface="Times New Roman"/>
              <a:cs typeface="Times New Roman"/>
              <a:sym typeface="Times New Roman"/>
            </a:endParaRPr>
          </a:p>
        </p:txBody>
      </p:sp>
      <p:sp>
        <p:nvSpPr>
          <p:cNvPr id="255" name="Google Shape;255;p38"/>
          <p:cNvSpPr txBox="1"/>
          <p:nvPr/>
        </p:nvSpPr>
        <p:spPr>
          <a:xfrm>
            <a:off x="4572000" y="859948"/>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1</a:t>
            </a:r>
            <a:endParaRPr b="1" i="0" sz="1800" u="none" cap="none" strike="noStrike">
              <a:solidFill>
                <a:schemeClr val="lt1"/>
              </a:solidFill>
              <a:latin typeface="Times New Roman"/>
              <a:ea typeface="Times New Roman"/>
              <a:cs typeface="Times New Roman"/>
              <a:sym typeface="Times New Roman"/>
            </a:endParaRPr>
          </a:p>
        </p:txBody>
      </p:sp>
      <p:sp>
        <p:nvSpPr>
          <p:cNvPr id="256" name="Google Shape;256;p38"/>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1</a:t>
            </a:r>
            <a:endParaRPr b="1" i="0" sz="1800" u="none" cap="none" strike="noStrike">
              <a:solidFill>
                <a:schemeClr val="lt1"/>
              </a:solidFill>
              <a:latin typeface="Times New Roman"/>
              <a:ea typeface="Times New Roman"/>
              <a:cs typeface="Times New Roman"/>
              <a:sym typeface="Times New Roman"/>
            </a:endParaRPr>
          </a:p>
        </p:txBody>
      </p:sp>
      <p:sp>
        <p:nvSpPr>
          <p:cNvPr id="257" name="Google Shape;257;p38"/>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 d)</a:t>
            </a:r>
            <a:endParaRPr b="1" i="0" sz="1800" u="none" cap="none" strike="noStrike">
              <a:solidFill>
                <a:schemeClr val="lt1"/>
              </a:solidFill>
              <a:latin typeface="Times New Roman"/>
              <a:ea typeface="Times New Roman"/>
              <a:cs typeface="Times New Roman"/>
              <a:sym typeface="Times New Roman"/>
            </a:endParaRPr>
          </a:p>
        </p:txBody>
      </p:sp>
      <p:cxnSp>
        <p:nvCxnSpPr>
          <p:cNvPr id="258" name="Google Shape;258;p38"/>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259" name="Google Shape;259;p38"/>
          <p:cNvSpPr txBox="1"/>
          <p:nvPr/>
        </p:nvSpPr>
        <p:spPr>
          <a:xfrm>
            <a:off x="72154" y="493286"/>
            <a:ext cx="8833500" cy="14547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 Which measures could help identify the key spreaders?</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Closeness centrality</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Eigenvector centrality</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Degree centrality only</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Betweenness centrality</a:t>
            </a:r>
            <a:endParaRPr b="0" i="0" sz="1800" u="none" cap="none" strike="noStrike">
              <a:solidFill>
                <a:schemeClr val="dk1"/>
              </a:solidFill>
              <a:latin typeface="Times New Roman"/>
              <a:ea typeface="Times New Roman"/>
              <a:cs typeface="Times New Roman"/>
              <a:sym typeface="Times New Roman"/>
            </a:endParaRPr>
          </a:p>
        </p:txBody>
      </p:sp>
      <p:pic>
        <p:nvPicPr>
          <p:cNvPr id="260" name="Google Shape;260;p38"/>
          <p:cNvPicPr preferRelativeResize="0"/>
          <p:nvPr/>
        </p:nvPicPr>
        <p:blipFill rotWithShape="1">
          <a:blip r:embed="rId3">
            <a:alphaModFix/>
          </a:blip>
          <a:srcRect b="0" l="0" r="0" t="0"/>
          <a:stretch/>
        </p:blipFill>
        <p:spPr>
          <a:xfrm>
            <a:off x="2688731" y="1576062"/>
            <a:ext cx="6428853" cy="1991377"/>
          </a:xfrm>
          <a:prstGeom prst="rect">
            <a:avLst/>
          </a:prstGeom>
          <a:noFill/>
          <a:ln>
            <a:noFill/>
          </a:ln>
        </p:spPr>
      </p:pic>
      <p:pic>
        <p:nvPicPr>
          <p:cNvPr id="261" name="Google Shape;261;p38"/>
          <p:cNvPicPr preferRelativeResize="0"/>
          <p:nvPr/>
        </p:nvPicPr>
        <p:blipFill rotWithShape="1">
          <a:blip r:embed="rId4">
            <a:alphaModFix/>
          </a:blip>
          <a:srcRect b="0" l="0" r="0" t="0"/>
          <a:stretch/>
        </p:blipFill>
        <p:spPr>
          <a:xfrm>
            <a:off x="1371600" y="3626466"/>
            <a:ext cx="7772399" cy="65708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2</a:t>
            </a:r>
            <a:endParaRPr b="1" i="0" sz="1800" u="none" cap="none" strike="noStrike">
              <a:solidFill>
                <a:schemeClr val="lt1"/>
              </a:solidFill>
              <a:latin typeface="Times New Roman"/>
              <a:ea typeface="Times New Roman"/>
              <a:cs typeface="Times New Roman"/>
              <a:sym typeface="Times New Roman"/>
            </a:endParaRPr>
          </a:p>
        </p:txBody>
      </p:sp>
      <p:sp>
        <p:nvSpPr>
          <p:cNvPr id="268" name="Google Shape;268;p39"/>
          <p:cNvSpPr txBox="1"/>
          <p:nvPr/>
        </p:nvSpPr>
        <p:spPr>
          <a:xfrm>
            <a:off x="42643" y="2002790"/>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2</a:t>
            </a:r>
            <a:endParaRPr b="1" i="0" sz="1800" u="none" cap="none" strike="noStrike">
              <a:solidFill>
                <a:schemeClr val="lt1"/>
              </a:solidFill>
              <a:latin typeface="Times New Roman"/>
              <a:ea typeface="Times New Roman"/>
              <a:cs typeface="Times New Roman"/>
              <a:sym typeface="Times New Roman"/>
            </a:endParaRPr>
          </a:p>
        </p:txBody>
      </p:sp>
      <p:sp>
        <p:nvSpPr>
          <p:cNvPr id="269" name="Google Shape;269;p39"/>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2</a:t>
            </a:r>
            <a:endParaRPr b="1" i="0" sz="1800" u="none" cap="none" strike="noStrike">
              <a:solidFill>
                <a:schemeClr val="lt1"/>
              </a:solidFill>
              <a:latin typeface="Times New Roman"/>
              <a:ea typeface="Times New Roman"/>
              <a:cs typeface="Times New Roman"/>
              <a:sym typeface="Times New Roman"/>
            </a:endParaRPr>
          </a:p>
        </p:txBody>
      </p:sp>
      <p:sp>
        <p:nvSpPr>
          <p:cNvPr id="270" name="Google Shape;270;p39"/>
          <p:cNvSpPr txBox="1"/>
          <p:nvPr/>
        </p:nvSpPr>
        <p:spPr>
          <a:xfrm>
            <a:off x="3127729" y="4771822"/>
            <a:ext cx="848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271" name="Google Shape;271;p39"/>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272" name="Google Shape;272;p39"/>
          <p:cNvSpPr txBox="1"/>
          <p:nvPr/>
        </p:nvSpPr>
        <p:spPr>
          <a:xfrm>
            <a:off x="42643" y="432561"/>
            <a:ext cx="83496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In a social network, which topology supports efficient local search?</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Random network</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Regular grid</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Small-world network</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Fully connected graph</a:t>
            </a:r>
            <a:endParaRPr/>
          </a:p>
        </p:txBody>
      </p:sp>
      <p:pic>
        <p:nvPicPr>
          <p:cNvPr id="273" name="Google Shape;273;p39"/>
          <p:cNvPicPr preferRelativeResize="0"/>
          <p:nvPr/>
        </p:nvPicPr>
        <p:blipFill rotWithShape="1">
          <a:blip r:embed="rId3">
            <a:alphaModFix/>
          </a:blip>
          <a:srcRect b="0" l="0" r="0" t="0"/>
          <a:stretch/>
        </p:blipFill>
        <p:spPr>
          <a:xfrm>
            <a:off x="188300" y="2419268"/>
            <a:ext cx="4820668" cy="220842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par>
                                <p:cTn fill="hold" nodeType="with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0"/>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3</a:t>
            </a:r>
            <a:endParaRPr b="1" i="0" sz="1800" u="none" cap="none" strike="noStrike">
              <a:solidFill>
                <a:schemeClr val="lt1"/>
              </a:solidFill>
              <a:latin typeface="Times New Roman"/>
              <a:ea typeface="Times New Roman"/>
              <a:cs typeface="Times New Roman"/>
              <a:sym typeface="Times New Roman"/>
            </a:endParaRPr>
          </a:p>
        </p:txBody>
      </p:sp>
      <p:sp>
        <p:nvSpPr>
          <p:cNvPr id="280" name="Google Shape;280;p40"/>
          <p:cNvSpPr txBox="1"/>
          <p:nvPr/>
        </p:nvSpPr>
        <p:spPr>
          <a:xfrm>
            <a:off x="42643" y="2052844"/>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3</a:t>
            </a:r>
            <a:endParaRPr b="1" i="0" sz="1800" u="none" cap="none" strike="noStrike">
              <a:solidFill>
                <a:schemeClr val="lt1"/>
              </a:solidFill>
              <a:latin typeface="Times New Roman"/>
              <a:ea typeface="Times New Roman"/>
              <a:cs typeface="Times New Roman"/>
              <a:sym typeface="Times New Roman"/>
            </a:endParaRPr>
          </a:p>
        </p:txBody>
      </p:sp>
      <p:sp>
        <p:nvSpPr>
          <p:cNvPr id="281" name="Google Shape;281;p40"/>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3</a:t>
            </a:r>
            <a:endParaRPr b="1" i="0" sz="1800" u="none" cap="none" strike="noStrike">
              <a:solidFill>
                <a:schemeClr val="lt1"/>
              </a:solidFill>
              <a:latin typeface="Times New Roman"/>
              <a:ea typeface="Times New Roman"/>
              <a:cs typeface="Times New Roman"/>
              <a:sym typeface="Times New Roman"/>
            </a:endParaRPr>
          </a:p>
        </p:txBody>
      </p:sp>
      <p:sp>
        <p:nvSpPr>
          <p:cNvPr id="282" name="Google Shape;282;p40"/>
          <p:cNvSpPr txBox="1"/>
          <p:nvPr/>
        </p:nvSpPr>
        <p:spPr>
          <a:xfrm>
            <a:off x="3127729" y="4771822"/>
            <a:ext cx="11328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283" name="Google Shape;283;p40"/>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284" name="Google Shape;284;p40"/>
          <p:cNvSpPr txBox="1"/>
          <p:nvPr/>
        </p:nvSpPr>
        <p:spPr>
          <a:xfrm>
            <a:off x="42643" y="432561"/>
            <a:ext cx="83496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Which principle is the algorithm likely using?</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Link locality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Homophily and triadic closure</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Preferential attachment</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Degree centrality</a:t>
            </a:r>
            <a:endParaRPr/>
          </a:p>
        </p:txBody>
      </p:sp>
      <p:pic>
        <p:nvPicPr>
          <p:cNvPr id="285" name="Google Shape;285;p40"/>
          <p:cNvPicPr preferRelativeResize="0"/>
          <p:nvPr/>
        </p:nvPicPr>
        <p:blipFill rotWithShape="1">
          <a:blip r:embed="rId3">
            <a:alphaModFix/>
          </a:blip>
          <a:srcRect b="0" l="0" r="0" t="0"/>
          <a:stretch/>
        </p:blipFill>
        <p:spPr>
          <a:xfrm>
            <a:off x="67928" y="2452134"/>
            <a:ext cx="6119602" cy="22588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1"/>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4</a:t>
            </a:r>
            <a:endParaRPr b="1" i="0" sz="1800" u="none" cap="none" strike="noStrike">
              <a:solidFill>
                <a:schemeClr val="lt1"/>
              </a:solidFill>
              <a:latin typeface="Times New Roman"/>
              <a:ea typeface="Times New Roman"/>
              <a:cs typeface="Times New Roman"/>
              <a:sym typeface="Times New Roman"/>
            </a:endParaRPr>
          </a:p>
        </p:txBody>
      </p:sp>
      <p:sp>
        <p:nvSpPr>
          <p:cNvPr id="292" name="Google Shape;292;p41"/>
          <p:cNvSpPr txBox="1"/>
          <p:nvPr/>
        </p:nvSpPr>
        <p:spPr>
          <a:xfrm>
            <a:off x="-1" y="451791"/>
            <a:ext cx="9022500" cy="167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Times New Roman"/>
                <a:ea typeface="Times New Roman"/>
                <a:cs typeface="Times New Roman"/>
                <a:sym typeface="Times New Roman"/>
              </a:rPr>
              <a:t>If the network is unweighted and undirected, which metric would best indicate an ingredient that connects various ingredient clusters?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Degree centrality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Betweenness centrality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PageRank</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Closeness centrality</a:t>
            </a:r>
            <a:endParaRPr/>
          </a:p>
        </p:txBody>
      </p:sp>
      <p:sp>
        <p:nvSpPr>
          <p:cNvPr id="293" name="Google Shape;293;p41"/>
          <p:cNvSpPr txBox="1"/>
          <p:nvPr/>
        </p:nvSpPr>
        <p:spPr>
          <a:xfrm>
            <a:off x="-12" y="2141209"/>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4</a:t>
            </a:r>
            <a:endParaRPr b="1" i="0" sz="1800" u="none" cap="none" strike="noStrike">
              <a:solidFill>
                <a:schemeClr val="lt1"/>
              </a:solidFill>
              <a:latin typeface="Times New Roman"/>
              <a:ea typeface="Times New Roman"/>
              <a:cs typeface="Times New Roman"/>
              <a:sym typeface="Times New Roman"/>
            </a:endParaRPr>
          </a:p>
        </p:txBody>
      </p:sp>
      <p:sp>
        <p:nvSpPr>
          <p:cNvPr id="294" name="Google Shape;294;p41"/>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4</a:t>
            </a:r>
            <a:endParaRPr b="1" i="0" sz="1800" u="none" cap="none" strike="noStrike">
              <a:solidFill>
                <a:schemeClr val="lt1"/>
              </a:solidFill>
              <a:latin typeface="Times New Roman"/>
              <a:ea typeface="Times New Roman"/>
              <a:cs typeface="Times New Roman"/>
              <a:sym typeface="Times New Roman"/>
            </a:endParaRPr>
          </a:p>
        </p:txBody>
      </p:sp>
      <p:sp>
        <p:nvSpPr>
          <p:cNvPr id="295" name="Google Shape;295;p41"/>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296" name="Google Shape;296;p41"/>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297" name="Google Shape;297;p41"/>
          <p:cNvSpPr txBox="1"/>
          <p:nvPr/>
        </p:nvSpPr>
        <p:spPr>
          <a:xfrm>
            <a:off x="10613" y="3194488"/>
            <a:ext cx="821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pic>
        <p:nvPicPr>
          <p:cNvPr id="298" name="Google Shape;298;p41"/>
          <p:cNvPicPr preferRelativeResize="0"/>
          <p:nvPr/>
        </p:nvPicPr>
        <p:blipFill rotWithShape="1">
          <a:blip r:embed="rId3">
            <a:alphaModFix/>
          </a:blip>
          <a:srcRect b="0" l="0" r="0" t="0"/>
          <a:stretch/>
        </p:blipFill>
        <p:spPr>
          <a:xfrm>
            <a:off x="80920" y="2459530"/>
            <a:ext cx="6853957" cy="22084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5</a:t>
            </a:r>
            <a:endParaRPr b="1" i="0" sz="1800" u="none" cap="none" strike="noStrike">
              <a:solidFill>
                <a:schemeClr val="lt1"/>
              </a:solidFill>
              <a:latin typeface="Times New Roman"/>
              <a:ea typeface="Times New Roman"/>
              <a:cs typeface="Times New Roman"/>
              <a:sym typeface="Times New Roman"/>
            </a:endParaRPr>
          </a:p>
        </p:txBody>
      </p:sp>
      <p:sp>
        <p:nvSpPr>
          <p:cNvPr id="305" name="Google Shape;305;p42"/>
          <p:cNvSpPr txBox="1"/>
          <p:nvPr/>
        </p:nvSpPr>
        <p:spPr>
          <a:xfrm>
            <a:off x="42643" y="2075433"/>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5</a:t>
            </a:r>
            <a:endParaRPr b="1" i="0" sz="1800" u="none" cap="none" strike="noStrike">
              <a:solidFill>
                <a:schemeClr val="lt1"/>
              </a:solidFill>
              <a:latin typeface="Times New Roman"/>
              <a:ea typeface="Times New Roman"/>
              <a:cs typeface="Times New Roman"/>
              <a:sym typeface="Times New Roman"/>
            </a:endParaRPr>
          </a:p>
        </p:txBody>
      </p:sp>
      <p:sp>
        <p:nvSpPr>
          <p:cNvPr id="306" name="Google Shape;306;p42"/>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5</a:t>
            </a:r>
            <a:endParaRPr b="1" i="0" sz="1800" u="none" cap="none" strike="noStrike">
              <a:solidFill>
                <a:schemeClr val="lt1"/>
              </a:solidFill>
              <a:latin typeface="Times New Roman"/>
              <a:ea typeface="Times New Roman"/>
              <a:cs typeface="Times New Roman"/>
              <a:sym typeface="Times New Roman"/>
            </a:endParaRPr>
          </a:p>
        </p:txBody>
      </p:sp>
      <p:sp>
        <p:nvSpPr>
          <p:cNvPr id="307" name="Google Shape;307;p42"/>
          <p:cNvSpPr txBox="1"/>
          <p:nvPr/>
        </p:nvSpPr>
        <p:spPr>
          <a:xfrm>
            <a:off x="3127729" y="4771822"/>
            <a:ext cx="848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308" name="Google Shape;308;p42"/>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309" name="Google Shape;309;p42"/>
          <p:cNvSpPr txBox="1"/>
          <p:nvPr/>
        </p:nvSpPr>
        <p:spPr>
          <a:xfrm>
            <a:off x="42643" y="432561"/>
            <a:ext cx="86136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Which graph algorithm is most appropriate to identify top influencers in the web graph?</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Dijkstra’s algorithm</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PageRank</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BFS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Kruskal’s algorithm</a:t>
            </a:r>
            <a:endParaRPr/>
          </a:p>
        </p:txBody>
      </p:sp>
      <p:pic>
        <p:nvPicPr>
          <p:cNvPr id="310" name="Google Shape;310;p42"/>
          <p:cNvPicPr preferRelativeResize="0"/>
          <p:nvPr/>
        </p:nvPicPr>
        <p:blipFill rotWithShape="1">
          <a:blip r:embed="rId3">
            <a:alphaModFix/>
          </a:blip>
          <a:srcRect b="0" l="0" r="0" t="0"/>
          <a:stretch/>
        </p:blipFill>
        <p:spPr>
          <a:xfrm>
            <a:off x="42643" y="2487288"/>
            <a:ext cx="7772400" cy="22109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3"/>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6</a:t>
            </a:r>
            <a:endParaRPr b="1" i="0" sz="1800" u="none" cap="none" strike="noStrike">
              <a:solidFill>
                <a:schemeClr val="lt1"/>
              </a:solidFill>
              <a:latin typeface="Times New Roman"/>
              <a:ea typeface="Times New Roman"/>
              <a:cs typeface="Times New Roman"/>
              <a:sym typeface="Times New Roman"/>
            </a:endParaRPr>
          </a:p>
        </p:txBody>
      </p:sp>
      <p:sp>
        <p:nvSpPr>
          <p:cNvPr id="317" name="Google Shape;317;p43"/>
          <p:cNvSpPr txBox="1"/>
          <p:nvPr/>
        </p:nvSpPr>
        <p:spPr>
          <a:xfrm>
            <a:off x="42643" y="1929124"/>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6</a:t>
            </a:r>
            <a:endParaRPr b="1" i="0" sz="1800" u="none" cap="none" strike="noStrike">
              <a:solidFill>
                <a:schemeClr val="lt1"/>
              </a:solidFill>
              <a:latin typeface="Times New Roman"/>
              <a:ea typeface="Times New Roman"/>
              <a:cs typeface="Times New Roman"/>
              <a:sym typeface="Times New Roman"/>
            </a:endParaRPr>
          </a:p>
        </p:txBody>
      </p:sp>
      <p:sp>
        <p:nvSpPr>
          <p:cNvPr id="318" name="Google Shape;318;p43"/>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25</a:t>
            </a:r>
            <a:endParaRPr b="1" i="0" sz="1800" u="none" cap="none" strike="noStrike">
              <a:solidFill>
                <a:schemeClr val="lt1"/>
              </a:solidFill>
              <a:latin typeface="Times New Roman"/>
              <a:ea typeface="Times New Roman"/>
              <a:cs typeface="Times New Roman"/>
              <a:sym typeface="Times New Roman"/>
            </a:endParaRPr>
          </a:p>
        </p:txBody>
      </p:sp>
      <p:sp>
        <p:nvSpPr>
          <p:cNvPr id="319" name="Google Shape;319;p43"/>
          <p:cNvSpPr txBox="1"/>
          <p:nvPr/>
        </p:nvSpPr>
        <p:spPr>
          <a:xfrm>
            <a:off x="3127729" y="4771822"/>
            <a:ext cx="11328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 b)</a:t>
            </a:r>
            <a:endParaRPr b="1" i="0" sz="1800" u="none" cap="none" strike="noStrike">
              <a:solidFill>
                <a:schemeClr val="lt1"/>
              </a:solidFill>
              <a:latin typeface="Times New Roman"/>
              <a:ea typeface="Times New Roman"/>
              <a:cs typeface="Times New Roman"/>
              <a:sym typeface="Times New Roman"/>
            </a:endParaRPr>
          </a:p>
        </p:txBody>
      </p:sp>
      <p:cxnSp>
        <p:nvCxnSpPr>
          <p:cNvPr id="320" name="Google Shape;320;p43"/>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321" name="Google Shape;321;p43"/>
          <p:cNvSpPr txBox="1"/>
          <p:nvPr/>
        </p:nvSpPr>
        <p:spPr>
          <a:xfrm>
            <a:off x="42643" y="432561"/>
            <a:ext cx="86070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  The sudden emergence of a giant connected component is an example of:</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Phase transition in networks</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Percolation theory in action</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Clique formation</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Graph diameter reduction</a:t>
            </a:r>
            <a:endParaRPr/>
          </a:p>
        </p:txBody>
      </p:sp>
      <p:pic>
        <p:nvPicPr>
          <p:cNvPr id="322" name="Google Shape;322;p43"/>
          <p:cNvPicPr preferRelativeResize="0"/>
          <p:nvPr/>
        </p:nvPicPr>
        <p:blipFill rotWithShape="1">
          <a:blip r:embed="rId3">
            <a:alphaModFix/>
          </a:blip>
          <a:srcRect b="0" l="0" r="0" t="0"/>
          <a:stretch/>
        </p:blipFill>
        <p:spPr>
          <a:xfrm>
            <a:off x="125523" y="2335528"/>
            <a:ext cx="6609200" cy="22533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par>
                                <p:cTn fill="hold" nodeType="with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4"/>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7</a:t>
            </a:r>
            <a:endParaRPr b="1" i="0" sz="1800" u="none" cap="none" strike="noStrike">
              <a:solidFill>
                <a:schemeClr val="lt1"/>
              </a:solidFill>
              <a:latin typeface="Times New Roman"/>
              <a:ea typeface="Times New Roman"/>
              <a:cs typeface="Times New Roman"/>
              <a:sym typeface="Times New Roman"/>
            </a:endParaRPr>
          </a:p>
        </p:txBody>
      </p:sp>
      <p:sp>
        <p:nvSpPr>
          <p:cNvPr id="329" name="Google Shape;329;p44"/>
          <p:cNvSpPr txBox="1"/>
          <p:nvPr/>
        </p:nvSpPr>
        <p:spPr>
          <a:xfrm>
            <a:off x="0" y="1934240"/>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7</a:t>
            </a:r>
            <a:endParaRPr b="1" i="0" sz="1800" u="none" cap="none" strike="noStrike">
              <a:solidFill>
                <a:schemeClr val="lt1"/>
              </a:solidFill>
              <a:latin typeface="Times New Roman"/>
              <a:ea typeface="Times New Roman"/>
              <a:cs typeface="Times New Roman"/>
              <a:sym typeface="Times New Roman"/>
            </a:endParaRPr>
          </a:p>
        </p:txBody>
      </p:sp>
      <p:sp>
        <p:nvSpPr>
          <p:cNvPr id="330" name="Google Shape;330;p44"/>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7</a:t>
            </a:r>
            <a:endParaRPr b="1" i="0" sz="1800" u="none" cap="none" strike="noStrike">
              <a:solidFill>
                <a:schemeClr val="lt1"/>
              </a:solidFill>
              <a:latin typeface="Times New Roman"/>
              <a:ea typeface="Times New Roman"/>
              <a:cs typeface="Times New Roman"/>
              <a:sym typeface="Times New Roman"/>
            </a:endParaRPr>
          </a:p>
        </p:txBody>
      </p:sp>
      <p:sp>
        <p:nvSpPr>
          <p:cNvPr id="331" name="Google Shape;331;p44"/>
          <p:cNvSpPr txBox="1"/>
          <p:nvPr/>
        </p:nvSpPr>
        <p:spPr>
          <a:xfrm>
            <a:off x="3017816" y="4763840"/>
            <a:ext cx="11952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332" name="Google Shape;332;p44"/>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333" name="Google Shape;333;p44"/>
          <p:cNvSpPr txBox="1"/>
          <p:nvPr/>
        </p:nvSpPr>
        <p:spPr>
          <a:xfrm>
            <a:off x="-98" y="451449"/>
            <a:ext cx="88335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A friendship triad where each person is friends with the other two is called a:</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Closed triad (triangle)</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Structural hole</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Local bridge</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Open triad</a:t>
            </a:r>
            <a:endParaRPr/>
          </a:p>
        </p:txBody>
      </p:sp>
      <p:pic>
        <p:nvPicPr>
          <p:cNvPr id="334" name="Google Shape;334;p44"/>
          <p:cNvPicPr preferRelativeResize="0"/>
          <p:nvPr/>
        </p:nvPicPr>
        <p:blipFill rotWithShape="1">
          <a:blip r:embed="rId3">
            <a:alphaModFix/>
          </a:blip>
          <a:srcRect b="0" l="0" r="0" t="0"/>
          <a:stretch/>
        </p:blipFill>
        <p:spPr>
          <a:xfrm>
            <a:off x="125306" y="2474549"/>
            <a:ext cx="8175413" cy="14991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par>
                                <p:cTn fill="hold" nodeType="with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5"/>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8</a:t>
            </a:r>
            <a:endParaRPr b="1" i="0" sz="1800" u="none" cap="none" strike="noStrike">
              <a:solidFill>
                <a:schemeClr val="lt1"/>
              </a:solidFill>
              <a:latin typeface="Times New Roman"/>
              <a:ea typeface="Times New Roman"/>
              <a:cs typeface="Times New Roman"/>
              <a:sym typeface="Times New Roman"/>
            </a:endParaRPr>
          </a:p>
        </p:txBody>
      </p:sp>
      <p:sp>
        <p:nvSpPr>
          <p:cNvPr id="341" name="Google Shape;341;p45"/>
          <p:cNvSpPr txBox="1"/>
          <p:nvPr/>
        </p:nvSpPr>
        <p:spPr>
          <a:xfrm>
            <a:off x="110377" y="225195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8</a:t>
            </a:r>
            <a:endParaRPr b="1" i="0" sz="1800" u="none" cap="none" strike="noStrike">
              <a:solidFill>
                <a:schemeClr val="lt1"/>
              </a:solidFill>
              <a:latin typeface="Times New Roman"/>
              <a:ea typeface="Times New Roman"/>
              <a:cs typeface="Times New Roman"/>
              <a:sym typeface="Times New Roman"/>
            </a:endParaRPr>
          </a:p>
        </p:txBody>
      </p:sp>
      <p:sp>
        <p:nvSpPr>
          <p:cNvPr id="342" name="Google Shape;342;p45"/>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8</a:t>
            </a:r>
            <a:endParaRPr b="1" i="0" sz="1800" u="none" cap="none" strike="noStrike">
              <a:solidFill>
                <a:schemeClr val="lt1"/>
              </a:solidFill>
              <a:latin typeface="Times New Roman"/>
              <a:ea typeface="Times New Roman"/>
              <a:cs typeface="Times New Roman"/>
              <a:sym typeface="Times New Roman"/>
            </a:endParaRPr>
          </a:p>
        </p:txBody>
      </p:sp>
      <p:sp>
        <p:nvSpPr>
          <p:cNvPr id="343" name="Google Shape;343;p45"/>
          <p:cNvSpPr txBox="1"/>
          <p:nvPr/>
        </p:nvSpPr>
        <p:spPr>
          <a:xfrm>
            <a:off x="3127729" y="4771822"/>
            <a:ext cx="12276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344" name="Google Shape;344;p45"/>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345" name="Google Shape;345;p45"/>
          <p:cNvSpPr txBox="1"/>
          <p:nvPr/>
        </p:nvSpPr>
        <p:spPr>
          <a:xfrm>
            <a:off x="42643" y="432561"/>
            <a:ext cx="90201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In the Girvan–Newman community detection method, what is removed first to reveal communities?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Nodes with highest degree</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Edges with highest betweenness centrality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Random edges until clusters form</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Edges within dense subgroups</a:t>
            </a:r>
            <a:endParaRPr/>
          </a:p>
        </p:txBody>
      </p:sp>
      <p:pic>
        <p:nvPicPr>
          <p:cNvPr id="346" name="Google Shape;346;p45"/>
          <p:cNvPicPr preferRelativeResize="0"/>
          <p:nvPr/>
        </p:nvPicPr>
        <p:blipFill rotWithShape="1">
          <a:blip r:embed="rId3">
            <a:alphaModFix/>
          </a:blip>
          <a:srcRect b="0" l="0" r="0" t="0"/>
          <a:stretch/>
        </p:blipFill>
        <p:spPr>
          <a:xfrm>
            <a:off x="42643" y="2723624"/>
            <a:ext cx="8907119" cy="19147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par>
                                <p:cTn fill="hold" nodeType="with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6"/>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9</a:t>
            </a:r>
            <a:endParaRPr b="1" i="0" sz="1800" u="none" cap="none" strike="noStrike">
              <a:solidFill>
                <a:schemeClr val="lt1"/>
              </a:solidFill>
              <a:latin typeface="Times New Roman"/>
              <a:ea typeface="Times New Roman"/>
              <a:cs typeface="Times New Roman"/>
              <a:sym typeface="Times New Roman"/>
            </a:endParaRPr>
          </a:p>
        </p:txBody>
      </p:sp>
      <p:sp>
        <p:nvSpPr>
          <p:cNvPr id="353" name="Google Shape;353;p46"/>
          <p:cNvSpPr txBox="1"/>
          <p:nvPr/>
        </p:nvSpPr>
        <p:spPr>
          <a:xfrm>
            <a:off x="90057" y="236001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9</a:t>
            </a:r>
            <a:endParaRPr b="1" i="0" sz="1800" u="none" cap="none" strike="noStrike">
              <a:solidFill>
                <a:schemeClr val="lt1"/>
              </a:solidFill>
              <a:latin typeface="Times New Roman"/>
              <a:ea typeface="Times New Roman"/>
              <a:cs typeface="Times New Roman"/>
              <a:sym typeface="Times New Roman"/>
            </a:endParaRPr>
          </a:p>
        </p:txBody>
      </p:sp>
      <p:sp>
        <p:nvSpPr>
          <p:cNvPr id="354" name="Google Shape;354;p46"/>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9</a:t>
            </a:r>
            <a:endParaRPr b="1" i="0" sz="1800" u="none" cap="none" strike="noStrike">
              <a:solidFill>
                <a:schemeClr val="lt1"/>
              </a:solidFill>
              <a:latin typeface="Times New Roman"/>
              <a:ea typeface="Times New Roman"/>
              <a:cs typeface="Times New Roman"/>
              <a:sym typeface="Times New Roman"/>
            </a:endParaRPr>
          </a:p>
        </p:txBody>
      </p:sp>
      <p:sp>
        <p:nvSpPr>
          <p:cNvPr id="355" name="Google Shape;355;p46"/>
          <p:cNvSpPr txBox="1"/>
          <p:nvPr/>
        </p:nvSpPr>
        <p:spPr>
          <a:xfrm>
            <a:off x="3127729" y="4771822"/>
            <a:ext cx="11328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356" name="Google Shape;356;p46"/>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357" name="Google Shape;357;p46"/>
          <p:cNvSpPr txBox="1"/>
          <p:nvPr/>
        </p:nvSpPr>
        <p:spPr>
          <a:xfrm>
            <a:off x="42643" y="432561"/>
            <a:ext cx="83496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Researchers found that confirming Granovetter’s theory in mobile data indicates which of the following about weak ties in this network?</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Weak ties were associated with high embeddedness.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Weak ties tended to span between different clusters.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Strong ties were never present.</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Weak ties had no role in information diffusion.</a:t>
            </a:r>
            <a:endParaRPr/>
          </a:p>
        </p:txBody>
      </p:sp>
      <p:pic>
        <p:nvPicPr>
          <p:cNvPr id="358" name="Google Shape;358;p46"/>
          <p:cNvPicPr preferRelativeResize="0"/>
          <p:nvPr/>
        </p:nvPicPr>
        <p:blipFill rotWithShape="1">
          <a:blip r:embed="rId3">
            <a:alphaModFix/>
          </a:blip>
          <a:srcRect b="0" l="0" r="0" t="0"/>
          <a:stretch/>
        </p:blipFill>
        <p:spPr>
          <a:xfrm>
            <a:off x="42643" y="2871559"/>
            <a:ext cx="7326744" cy="15890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par>
                                <p:cTn fill="hold" nodeType="with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7"/>
          <p:cNvSpPr txBox="1"/>
          <p:nvPr/>
        </p:nvSpPr>
        <p:spPr>
          <a:xfrm>
            <a:off x="0" y="55491"/>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10</a:t>
            </a:r>
            <a:endParaRPr b="1" i="0" sz="1800" u="none" cap="none" strike="noStrike">
              <a:solidFill>
                <a:schemeClr val="lt1"/>
              </a:solidFill>
              <a:latin typeface="Times New Roman"/>
              <a:ea typeface="Times New Roman"/>
              <a:cs typeface="Times New Roman"/>
              <a:sym typeface="Times New Roman"/>
            </a:endParaRPr>
          </a:p>
        </p:txBody>
      </p:sp>
      <p:sp>
        <p:nvSpPr>
          <p:cNvPr id="365" name="Google Shape;365;p47"/>
          <p:cNvSpPr txBox="1"/>
          <p:nvPr/>
        </p:nvSpPr>
        <p:spPr>
          <a:xfrm>
            <a:off x="23936" y="401740"/>
            <a:ext cx="8833500" cy="1731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Alice acts as a liaison between the marketing and engineering teams, which are otherwise not directly connected. What network concept describes Alice’s advantage in this position?</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Clique formation</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Community detection</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Structural hole (brokerage)</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Triadic closure</a:t>
            </a:r>
            <a:endParaRPr b="0" i="0" sz="1800" u="none" cap="none" strike="noStrike">
              <a:solidFill>
                <a:schemeClr val="dk1"/>
              </a:solidFill>
              <a:latin typeface="Times New Roman"/>
              <a:ea typeface="Times New Roman"/>
              <a:cs typeface="Times New Roman"/>
              <a:sym typeface="Times New Roman"/>
            </a:endParaRPr>
          </a:p>
        </p:txBody>
      </p:sp>
      <p:sp>
        <p:nvSpPr>
          <p:cNvPr id="366" name="Google Shape;366;p47"/>
          <p:cNvSpPr txBox="1"/>
          <p:nvPr/>
        </p:nvSpPr>
        <p:spPr>
          <a:xfrm>
            <a:off x="23936" y="227993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10</a:t>
            </a:r>
            <a:endParaRPr b="1" i="0" sz="1800" u="none" cap="none" strike="noStrike">
              <a:solidFill>
                <a:schemeClr val="lt1"/>
              </a:solidFill>
              <a:latin typeface="Times New Roman"/>
              <a:ea typeface="Times New Roman"/>
              <a:cs typeface="Times New Roman"/>
              <a:sym typeface="Times New Roman"/>
            </a:endParaRPr>
          </a:p>
        </p:txBody>
      </p:sp>
      <p:sp>
        <p:nvSpPr>
          <p:cNvPr id="367" name="Google Shape;367;p47"/>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10</a:t>
            </a:r>
            <a:endParaRPr b="1" i="0" sz="1800" u="none" cap="none" strike="noStrike">
              <a:solidFill>
                <a:schemeClr val="lt1"/>
              </a:solidFill>
              <a:latin typeface="Times New Roman"/>
              <a:ea typeface="Times New Roman"/>
              <a:cs typeface="Times New Roman"/>
              <a:sym typeface="Times New Roman"/>
            </a:endParaRPr>
          </a:p>
        </p:txBody>
      </p:sp>
      <p:sp>
        <p:nvSpPr>
          <p:cNvPr id="368" name="Google Shape;368;p47"/>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lang="en-US" sz="1800">
                <a:solidFill>
                  <a:schemeClr val="lt1"/>
                </a:solidFill>
                <a:latin typeface="Times New Roman"/>
                <a:ea typeface="Times New Roman"/>
                <a:cs typeface="Times New Roman"/>
                <a:sym typeface="Times New Roman"/>
              </a:rPr>
              <a:t>c</a:t>
            </a:r>
            <a:r>
              <a:rPr b="1" i="0" lang="en-US" sz="1800" u="none" cap="none" strike="noStrike">
                <a:solidFill>
                  <a:schemeClr val="lt1"/>
                </a:solidFill>
                <a:latin typeface="Times New Roman"/>
                <a:ea typeface="Times New Roman"/>
                <a:cs typeface="Times New Roman"/>
                <a:sym typeface="Times New Roman"/>
              </a:rPr>
              <a:t>)</a:t>
            </a:r>
            <a:endParaRPr b="1" i="0" sz="1800" u="none" cap="none" strike="noStrike">
              <a:solidFill>
                <a:schemeClr val="lt1"/>
              </a:solidFill>
              <a:latin typeface="Times New Roman"/>
              <a:ea typeface="Times New Roman"/>
              <a:cs typeface="Times New Roman"/>
              <a:sym typeface="Times New Roman"/>
            </a:endParaRPr>
          </a:p>
        </p:txBody>
      </p:sp>
      <p:cxnSp>
        <p:nvCxnSpPr>
          <p:cNvPr id="369" name="Google Shape;369;p47"/>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370" name="Google Shape;370;p47"/>
          <p:cNvPicPr preferRelativeResize="0"/>
          <p:nvPr/>
        </p:nvPicPr>
        <p:blipFill rotWithShape="1">
          <a:blip r:embed="rId3">
            <a:alphaModFix/>
          </a:blip>
          <a:srcRect b="0" l="0" r="0" t="0"/>
          <a:stretch/>
        </p:blipFill>
        <p:spPr>
          <a:xfrm>
            <a:off x="164432" y="2729527"/>
            <a:ext cx="7772399" cy="16188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8"/>
          <p:cNvSpPr txBox="1"/>
          <p:nvPr/>
        </p:nvSpPr>
        <p:spPr>
          <a:xfrm>
            <a:off x="0" y="1919"/>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11</a:t>
            </a:r>
            <a:endParaRPr b="1" i="0" sz="1800" u="none" cap="none" strike="noStrike">
              <a:solidFill>
                <a:schemeClr val="lt1"/>
              </a:solidFill>
              <a:latin typeface="Times New Roman"/>
              <a:ea typeface="Times New Roman"/>
              <a:cs typeface="Times New Roman"/>
              <a:sym typeface="Times New Roman"/>
            </a:endParaRPr>
          </a:p>
        </p:txBody>
      </p:sp>
      <p:sp>
        <p:nvSpPr>
          <p:cNvPr id="377" name="Google Shape;377;p48"/>
          <p:cNvSpPr txBox="1"/>
          <p:nvPr/>
        </p:nvSpPr>
        <p:spPr>
          <a:xfrm>
            <a:off x="9525" y="2122893"/>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11</a:t>
            </a:r>
            <a:endParaRPr b="1" i="0" sz="1800" u="none" cap="none" strike="noStrike">
              <a:solidFill>
                <a:schemeClr val="lt1"/>
              </a:solidFill>
              <a:latin typeface="Times New Roman"/>
              <a:ea typeface="Times New Roman"/>
              <a:cs typeface="Times New Roman"/>
              <a:sym typeface="Times New Roman"/>
            </a:endParaRPr>
          </a:p>
        </p:txBody>
      </p:sp>
      <p:sp>
        <p:nvSpPr>
          <p:cNvPr id="378" name="Google Shape;378;p48"/>
          <p:cNvSpPr txBox="1"/>
          <p:nvPr/>
        </p:nvSpPr>
        <p:spPr>
          <a:xfrm>
            <a:off x="25" y="4763849"/>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11</a:t>
            </a:r>
            <a:endParaRPr b="1" i="0" sz="1800" u="none" cap="none" strike="noStrike">
              <a:solidFill>
                <a:schemeClr val="lt1"/>
              </a:solidFill>
              <a:latin typeface="Times New Roman"/>
              <a:ea typeface="Times New Roman"/>
              <a:cs typeface="Times New Roman"/>
              <a:sym typeface="Times New Roman"/>
            </a:endParaRPr>
          </a:p>
        </p:txBody>
      </p:sp>
      <p:sp>
        <p:nvSpPr>
          <p:cNvPr id="379" name="Google Shape;379;p48"/>
          <p:cNvSpPr txBox="1"/>
          <p:nvPr/>
        </p:nvSpPr>
        <p:spPr>
          <a:xfrm>
            <a:off x="3017816" y="4763840"/>
            <a:ext cx="995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380" name="Google Shape;380;p48"/>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381" name="Google Shape;381;p48"/>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382" name="Google Shape;382;p48"/>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383" name="Google Shape;383;p48"/>
          <p:cNvPicPr preferRelativeResize="0"/>
          <p:nvPr/>
        </p:nvPicPr>
        <p:blipFill rotWithShape="1">
          <a:blip r:embed="rId3">
            <a:alphaModFix/>
          </a:blip>
          <a:srcRect b="0" l="0" r="0" t="0"/>
          <a:stretch/>
        </p:blipFill>
        <p:spPr>
          <a:xfrm>
            <a:off x="0" y="0"/>
            <a:ext cx="9525" cy="9525"/>
          </a:xfrm>
          <a:prstGeom prst="rect">
            <a:avLst/>
          </a:prstGeom>
          <a:noFill/>
          <a:ln>
            <a:noFill/>
          </a:ln>
        </p:spPr>
      </p:pic>
      <p:sp>
        <p:nvSpPr>
          <p:cNvPr id="384" name="Google Shape;384;p48"/>
          <p:cNvSpPr txBox="1"/>
          <p:nvPr/>
        </p:nvSpPr>
        <p:spPr>
          <a:xfrm>
            <a:off x="75108" y="408598"/>
            <a:ext cx="89937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Sophia remains on the fringe of the tennis group mainly because:</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She attends different events at the campus, unrelated to Emma’s group.</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She doesn’t play tennis and shares few interests with Emma’s friends.</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She was never formally introduced by the group’s leader.</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She isn’t good at sports and is therefore excluded.</a:t>
            </a:r>
            <a:endParaRPr/>
          </a:p>
        </p:txBody>
      </p:sp>
      <p:pic>
        <p:nvPicPr>
          <p:cNvPr id="385" name="Google Shape;385;p48"/>
          <p:cNvPicPr preferRelativeResize="0"/>
          <p:nvPr/>
        </p:nvPicPr>
        <p:blipFill rotWithShape="1">
          <a:blip r:embed="rId4">
            <a:alphaModFix/>
          </a:blip>
          <a:srcRect b="0" l="0" r="0" t="0"/>
          <a:stretch/>
        </p:blipFill>
        <p:spPr>
          <a:xfrm>
            <a:off x="204537" y="2581841"/>
            <a:ext cx="7772399" cy="18066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par>
                                <p:cTn fill="hold" nodeType="with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1000"/>
                                        <p:tgtEl>
                                          <p:spTgt spid="380"/>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9"/>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1</a:t>
            </a:r>
            <a:r>
              <a:rPr b="1" lang="en-US" sz="1800">
                <a:solidFill>
                  <a:schemeClr val="lt1"/>
                </a:solidFill>
                <a:latin typeface="Times New Roman"/>
                <a:ea typeface="Times New Roman"/>
                <a:cs typeface="Times New Roman"/>
                <a:sym typeface="Times New Roman"/>
              </a:rPr>
              <a:t>2</a:t>
            </a:r>
            <a:endParaRPr b="1" i="0" sz="1800" u="none" cap="none" strike="noStrike">
              <a:solidFill>
                <a:schemeClr val="lt1"/>
              </a:solidFill>
              <a:latin typeface="Times New Roman"/>
              <a:ea typeface="Times New Roman"/>
              <a:cs typeface="Times New Roman"/>
              <a:sym typeface="Times New Roman"/>
            </a:endParaRPr>
          </a:p>
        </p:txBody>
      </p:sp>
      <p:sp>
        <p:nvSpPr>
          <p:cNvPr id="392" name="Google Shape;392;p49"/>
          <p:cNvSpPr txBox="1"/>
          <p:nvPr/>
        </p:nvSpPr>
        <p:spPr>
          <a:xfrm>
            <a:off x="94826" y="239862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1</a:t>
            </a:r>
            <a:r>
              <a:rPr b="1" lang="en-US" sz="1800">
                <a:solidFill>
                  <a:schemeClr val="lt1"/>
                </a:solidFill>
                <a:latin typeface="Times New Roman"/>
                <a:ea typeface="Times New Roman"/>
                <a:cs typeface="Times New Roman"/>
                <a:sym typeface="Times New Roman"/>
              </a:rPr>
              <a:t>2</a:t>
            </a:r>
            <a:endParaRPr b="1" i="0" sz="1800" u="none" cap="none" strike="noStrike">
              <a:solidFill>
                <a:schemeClr val="lt1"/>
              </a:solidFill>
              <a:latin typeface="Times New Roman"/>
              <a:ea typeface="Times New Roman"/>
              <a:cs typeface="Times New Roman"/>
              <a:sym typeface="Times New Roman"/>
            </a:endParaRPr>
          </a:p>
        </p:txBody>
      </p:sp>
      <p:sp>
        <p:nvSpPr>
          <p:cNvPr id="393" name="Google Shape;393;p49"/>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1</a:t>
            </a:r>
            <a:r>
              <a:rPr b="1" lang="en-US" sz="1800">
                <a:solidFill>
                  <a:schemeClr val="lt1"/>
                </a:solidFill>
                <a:latin typeface="Times New Roman"/>
                <a:ea typeface="Times New Roman"/>
                <a:cs typeface="Times New Roman"/>
                <a:sym typeface="Times New Roman"/>
              </a:rPr>
              <a:t>2</a:t>
            </a:r>
            <a:endParaRPr b="1" i="0" sz="1800" u="none" cap="none" strike="noStrike">
              <a:solidFill>
                <a:schemeClr val="lt1"/>
              </a:solidFill>
              <a:latin typeface="Times New Roman"/>
              <a:ea typeface="Times New Roman"/>
              <a:cs typeface="Times New Roman"/>
              <a:sym typeface="Times New Roman"/>
            </a:endParaRPr>
          </a:p>
        </p:txBody>
      </p:sp>
      <p:sp>
        <p:nvSpPr>
          <p:cNvPr id="394" name="Google Shape;394;p49"/>
          <p:cNvSpPr txBox="1"/>
          <p:nvPr/>
        </p:nvSpPr>
        <p:spPr>
          <a:xfrm>
            <a:off x="3127729" y="4771822"/>
            <a:ext cx="848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395" name="Google Shape;395;p49"/>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396" name="Google Shape;396;p49"/>
          <p:cNvSpPr txBox="1"/>
          <p:nvPr/>
        </p:nvSpPr>
        <p:spPr>
          <a:xfrm>
            <a:off x="-2" y="483039"/>
            <a:ext cx="91440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If the initial influencers (e.g., team leaders) had not adopted the app early on, what would likely happen?</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Adoption would proceed at the same rate regardless.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Adoption would be much slower or limited.</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More people would adopt out of curiosity.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 tool would automatically install for everyone</a:t>
            </a:r>
            <a:endParaRPr/>
          </a:p>
        </p:txBody>
      </p:sp>
      <p:pic>
        <p:nvPicPr>
          <p:cNvPr id="397" name="Google Shape;397;p49"/>
          <p:cNvPicPr preferRelativeResize="0"/>
          <p:nvPr/>
        </p:nvPicPr>
        <p:blipFill rotWithShape="1">
          <a:blip r:embed="rId3">
            <a:alphaModFix/>
          </a:blip>
          <a:srcRect b="0" l="0" r="0" t="0"/>
          <a:stretch/>
        </p:blipFill>
        <p:spPr>
          <a:xfrm>
            <a:off x="94826" y="2881705"/>
            <a:ext cx="7772399" cy="14178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000"/>
                                        <p:tgtEl>
                                          <p:spTgt spid="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000"/>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0"/>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13</a:t>
            </a:r>
            <a:endParaRPr b="1" i="0" sz="1800" u="none" cap="none" strike="noStrike">
              <a:solidFill>
                <a:schemeClr val="lt1"/>
              </a:solidFill>
              <a:latin typeface="Times New Roman"/>
              <a:ea typeface="Times New Roman"/>
              <a:cs typeface="Times New Roman"/>
              <a:sym typeface="Times New Roman"/>
            </a:endParaRPr>
          </a:p>
        </p:txBody>
      </p:sp>
      <p:sp>
        <p:nvSpPr>
          <p:cNvPr id="404" name="Google Shape;404;p50"/>
          <p:cNvSpPr txBox="1"/>
          <p:nvPr/>
        </p:nvSpPr>
        <p:spPr>
          <a:xfrm>
            <a:off x="60960" y="2054274"/>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13</a:t>
            </a:r>
            <a:endParaRPr b="1" i="0" sz="1800" u="none" cap="none" strike="noStrike">
              <a:solidFill>
                <a:schemeClr val="lt1"/>
              </a:solidFill>
              <a:latin typeface="Times New Roman"/>
              <a:ea typeface="Times New Roman"/>
              <a:cs typeface="Times New Roman"/>
              <a:sym typeface="Times New Roman"/>
            </a:endParaRPr>
          </a:p>
        </p:txBody>
      </p:sp>
      <p:sp>
        <p:nvSpPr>
          <p:cNvPr id="405" name="Google Shape;405;p50"/>
          <p:cNvSpPr txBox="1"/>
          <p:nvPr/>
        </p:nvSpPr>
        <p:spPr>
          <a:xfrm>
            <a:off x="25"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13</a:t>
            </a:r>
            <a:endParaRPr b="1" i="0" sz="1800" u="none" cap="none" strike="noStrike">
              <a:solidFill>
                <a:schemeClr val="lt1"/>
              </a:solidFill>
              <a:latin typeface="Times New Roman"/>
              <a:ea typeface="Times New Roman"/>
              <a:cs typeface="Times New Roman"/>
              <a:sym typeface="Times New Roman"/>
            </a:endParaRPr>
          </a:p>
        </p:txBody>
      </p:sp>
      <p:sp>
        <p:nvSpPr>
          <p:cNvPr id="406" name="Google Shape;406;p50"/>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407" name="Google Shape;407;p50"/>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08" name="Google Shape;408;p50"/>
          <p:cNvSpPr txBox="1"/>
          <p:nvPr/>
        </p:nvSpPr>
        <p:spPr>
          <a:xfrm>
            <a:off x="0" y="432561"/>
            <a:ext cx="8833500" cy="14547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 Which of these configurations represents strong segregation (given a high threshold)?</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Red and blue homes alternating regularly</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One contiguous cluster of reds and one of blues</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 checkerboard of red/blue</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 random mix of reds and blues.</a:t>
            </a:r>
            <a:endParaRPr b="0" i="0" sz="1800" u="none" cap="none" strike="noStrike">
              <a:solidFill>
                <a:schemeClr val="dk1"/>
              </a:solidFill>
              <a:latin typeface="Times New Roman"/>
              <a:ea typeface="Times New Roman"/>
              <a:cs typeface="Times New Roman"/>
              <a:sym typeface="Times New Roman"/>
            </a:endParaRPr>
          </a:p>
        </p:txBody>
      </p:sp>
      <p:pic>
        <p:nvPicPr>
          <p:cNvPr id="409" name="Google Shape;409;p50"/>
          <p:cNvPicPr preferRelativeResize="0"/>
          <p:nvPr/>
        </p:nvPicPr>
        <p:blipFill rotWithShape="1">
          <a:blip r:embed="rId3">
            <a:alphaModFix/>
          </a:blip>
          <a:srcRect b="0" l="0" r="0" t="0"/>
          <a:stretch/>
        </p:blipFill>
        <p:spPr>
          <a:xfrm>
            <a:off x="60960" y="2550791"/>
            <a:ext cx="7772400" cy="13679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000"/>
                                        <p:tgtEl>
                                          <p:spTgt spid="406"/>
                                        </p:tgtEl>
                                      </p:cBhvr>
                                    </p:animEffect>
                                  </p:childTnLst>
                                </p:cTn>
                              </p:par>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1"/>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1</a:t>
            </a:r>
            <a:r>
              <a:rPr b="1" lang="en-US" sz="1800">
                <a:solidFill>
                  <a:schemeClr val="lt1"/>
                </a:solidFill>
                <a:latin typeface="Times New Roman"/>
                <a:ea typeface="Times New Roman"/>
                <a:cs typeface="Times New Roman"/>
                <a:sym typeface="Times New Roman"/>
              </a:rPr>
              <a:t>4</a:t>
            </a:r>
            <a:endParaRPr b="1" i="0" sz="1800" u="none" cap="none" strike="noStrike">
              <a:solidFill>
                <a:schemeClr val="lt1"/>
              </a:solidFill>
              <a:latin typeface="Times New Roman"/>
              <a:ea typeface="Times New Roman"/>
              <a:cs typeface="Times New Roman"/>
              <a:sym typeface="Times New Roman"/>
            </a:endParaRPr>
          </a:p>
        </p:txBody>
      </p:sp>
      <p:sp>
        <p:nvSpPr>
          <p:cNvPr id="416" name="Google Shape;416;p51"/>
          <p:cNvSpPr txBox="1"/>
          <p:nvPr/>
        </p:nvSpPr>
        <p:spPr>
          <a:xfrm>
            <a:off x="37520" y="204652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18</a:t>
            </a:r>
            <a:endParaRPr b="1" i="0" sz="1800" u="none" cap="none" strike="noStrike">
              <a:solidFill>
                <a:schemeClr val="lt1"/>
              </a:solidFill>
              <a:latin typeface="Times New Roman"/>
              <a:ea typeface="Times New Roman"/>
              <a:cs typeface="Times New Roman"/>
              <a:sym typeface="Times New Roman"/>
            </a:endParaRPr>
          </a:p>
        </p:txBody>
      </p:sp>
      <p:sp>
        <p:nvSpPr>
          <p:cNvPr id="417" name="Google Shape;417;p51"/>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1</a:t>
            </a:r>
            <a:r>
              <a:rPr b="1" lang="en-US" sz="1800">
                <a:solidFill>
                  <a:schemeClr val="lt1"/>
                </a:solidFill>
                <a:latin typeface="Times New Roman"/>
                <a:ea typeface="Times New Roman"/>
                <a:cs typeface="Times New Roman"/>
                <a:sym typeface="Times New Roman"/>
              </a:rPr>
              <a:t>4</a:t>
            </a:r>
            <a:endParaRPr b="1" i="0" sz="1800" u="none" cap="none" strike="noStrike">
              <a:solidFill>
                <a:schemeClr val="lt1"/>
              </a:solidFill>
              <a:latin typeface="Times New Roman"/>
              <a:ea typeface="Times New Roman"/>
              <a:cs typeface="Times New Roman"/>
              <a:sym typeface="Times New Roman"/>
            </a:endParaRPr>
          </a:p>
        </p:txBody>
      </p:sp>
      <p:sp>
        <p:nvSpPr>
          <p:cNvPr id="418" name="Google Shape;418;p51"/>
          <p:cNvSpPr txBox="1"/>
          <p:nvPr/>
        </p:nvSpPr>
        <p:spPr>
          <a:xfrm>
            <a:off x="3127729" y="4771822"/>
            <a:ext cx="11328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 b)</a:t>
            </a:r>
            <a:endParaRPr b="1" i="0" sz="1800" u="none" cap="none" strike="noStrike">
              <a:solidFill>
                <a:schemeClr val="lt1"/>
              </a:solidFill>
              <a:latin typeface="Times New Roman"/>
              <a:ea typeface="Times New Roman"/>
              <a:cs typeface="Times New Roman"/>
              <a:sym typeface="Times New Roman"/>
            </a:endParaRPr>
          </a:p>
        </p:txBody>
      </p:sp>
      <p:cxnSp>
        <p:nvCxnSpPr>
          <p:cNvPr id="419" name="Google Shape;419;p51"/>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20" name="Google Shape;420;p51"/>
          <p:cNvSpPr txBox="1"/>
          <p:nvPr/>
        </p:nvSpPr>
        <p:spPr>
          <a:xfrm>
            <a:off x="42643" y="432561"/>
            <a:ext cx="92301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Which global outcomes reflect a structurally balanced network? (Select all.)</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All individuals are mutual friends (+ between all)</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 group splits into exactly two factions with only inter-group hostility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Every triangle in the network has two positive edges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Everyone is mutual enemies (all –)</a:t>
            </a:r>
            <a:endParaRPr/>
          </a:p>
        </p:txBody>
      </p:sp>
      <p:pic>
        <p:nvPicPr>
          <p:cNvPr id="421" name="Google Shape;421;p51"/>
          <p:cNvPicPr preferRelativeResize="0"/>
          <p:nvPr/>
        </p:nvPicPr>
        <p:blipFill rotWithShape="1">
          <a:blip r:embed="rId3">
            <a:alphaModFix/>
          </a:blip>
          <a:srcRect b="0" l="0" r="0" t="0"/>
          <a:stretch/>
        </p:blipFill>
        <p:spPr>
          <a:xfrm>
            <a:off x="59610" y="2430123"/>
            <a:ext cx="6006696" cy="21874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1000"/>
                                        <p:tgtEl>
                                          <p:spTgt spid="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par>
                                <p:cTn fill="hold" nodeType="with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2"/>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15</a:t>
            </a:r>
            <a:endParaRPr b="1" i="0" sz="1800" u="none" cap="none" strike="noStrike">
              <a:solidFill>
                <a:schemeClr val="lt1"/>
              </a:solidFill>
              <a:latin typeface="Times New Roman"/>
              <a:ea typeface="Times New Roman"/>
              <a:cs typeface="Times New Roman"/>
              <a:sym typeface="Times New Roman"/>
            </a:endParaRPr>
          </a:p>
        </p:txBody>
      </p:sp>
      <p:sp>
        <p:nvSpPr>
          <p:cNvPr id="428" name="Google Shape;428;p52"/>
          <p:cNvSpPr txBox="1"/>
          <p:nvPr/>
        </p:nvSpPr>
        <p:spPr>
          <a:xfrm>
            <a:off x="131656" y="204838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15</a:t>
            </a:r>
            <a:endParaRPr b="1" i="0" sz="1800" u="none" cap="none" strike="noStrike">
              <a:solidFill>
                <a:schemeClr val="lt1"/>
              </a:solidFill>
              <a:latin typeface="Times New Roman"/>
              <a:ea typeface="Times New Roman"/>
              <a:cs typeface="Times New Roman"/>
              <a:sym typeface="Times New Roman"/>
            </a:endParaRPr>
          </a:p>
        </p:txBody>
      </p:sp>
      <p:sp>
        <p:nvSpPr>
          <p:cNvPr id="429" name="Google Shape;429;p52"/>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15</a:t>
            </a:r>
            <a:endParaRPr b="1" i="0" sz="1800" u="none" cap="none" strike="noStrike">
              <a:solidFill>
                <a:schemeClr val="lt1"/>
              </a:solidFill>
              <a:latin typeface="Times New Roman"/>
              <a:ea typeface="Times New Roman"/>
              <a:cs typeface="Times New Roman"/>
              <a:sym typeface="Times New Roman"/>
            </a:endParaRPr>
          </a:p>
        </p:txBody>
      </p:sp>
      <p:sp>
        <p:nvSpPr>
          <p:cNvPr id="430" name="Google Shape;430;p52"/>
          <p:cNvSpPr txBox="1"/>
          <p:nvPr/>
        </p:nvSpPr>
        <p:spPr>
          <a:xfrm>
            <a:off x="3127729" y="4771822"/>
            <a:ext cx="11328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431" name="Google Shape;431;p52"/>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32" name="Google Shape;432;p52"/>
          <p:cNvSpPr txBox="1"/>
          <p:nvPr/>
        </p:nvSpPr>
        <p:spPr>
          <a:xfrm>
            <a:off x="42642" y="432561"/>
            <a:ext cx="91014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Splitting nodes to maximize separation of negative ties is equivalent to which classical problem?</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Maximum cut on the negative-edge subgraph</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Minimum spanning tree</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Clique cover</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Hamiltonian cycle.</a:t>
            </a:r>
            <a:endParaRPr/>
          </a:p>
        </p:txBody>
      </p:sp>
      <p:pic>
        <p:nvPicPr>
          <p:cNvPr id="433" name="Google Shape;433;p52"/>
          <p:cNvPicPr preferRelativeResize="0"/>
          <p:nvPr/>
        </p:nvPicPr>
        <p:blipFill rotWithShape="1">
          <a:blip r:embed="rId3">
            <a:alphaModFix/>
          </a:blip>
          <a:srcRect b="0" l="0" r="0" t="0"/>
          <a:stretch/>
        </p:blipFill>
        <p:spPr>
          <a:xfrm>
            <a:off x="200277" y="2717756"/>
            <a:ext cx="7772402" cy="141930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par>
                                <p:cTn fill="hold" nodeType="with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par>
                                <p:cTn fill="hold" nodeType="with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000"/>
                                        <p:tgtEl>
                                          <p:spTgt spid="4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3"/>
          <p:cNvSpPr txBox="1"/>
          <p:nvPr/>
        </p:nvSpPr>
        <p:spPr>
          <a:xfrm>
            <a:off x="0" y="55491"/>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16</a:t>
            </a:r>
            <a:endParaRPr b="1" i="0" sz="1800" u="none" cap="none" strike="noStrike">
              <a:solidFill>
                <a:schemeClr val="lt1"/>
              </a:solidFill>
              <a:latin typeface="Times New Roman"/>
              <a:ea typeface="Times New Roman"/>
              <a:cs typeface="Times New Roman"/>
              <a:sym typeface="Times New Roman"/>
            </a:endParaRPr>
          </a:p>
        </p:txBody>
      </p:sp>
      <p:sp>
        <p:nvSpPr>
          <p:cNvPr id="440" name="Google Shape;440;p53"/>
          <p:cNvSpPr txBox="1"/>
          <p:nvPr/>
        </p:nvSpPr>
        <p:spPr>
          <a:xfrm>
            <a:off x="23936" y="401740"/>
            <a:ext cx="8833500" cy="1608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If 10 influence points are initially given to each user equally, and each user distributes their points equally to the users they follow, how many points does D receive after one round of distribution?</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1</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2</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2.5</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3</a:t>
            </a:r>
            <a:endParaRPr b="0" i="0" sz="1400" u="none" cap="none" strike="noStrike">
              <a:solidFill>
                <a:schemeClr val="dk1"/>
              </a:solidFill>
              <a:latin typeface="Times New Roman"/>
              <a:ea typeface="Times New Roman"/>
              <a:cs typeface="Times New Roman"/>
              <a:sym typeface="Times New Roman"/>
            </a:endParaRPr>
          </a:p>
        </p:txBody>
      </p:sp>
      <p:sp>
        <p:nvSpPr>
          <p:cNvPr id="441" name="Google Shape;441;p53"/>
          <p:cNvSpPr txBox="1"/>
          <p:nvPr/>
        </p:nvSpPr>
        <p:spPr>
          <a:xfrm>
            <a:off x="2907904" y="90955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16</a:t>
            </a:r>
            <a:endParaRPr b="1" i="0" sz="1800" u="none" cap="none" strike="noStrike">
              <a:solidFill>
                <a:schemeClr val="lt1"/>
              </a:solidFill>
              <a:latin typeface="Times New Roman"/>
              <a:ea typeface="Times New Roman"/>
              <a:cs typeface="Times New Roman"/>
              <a:sym typeface="Times New Roman"/>
            </a:endParaRPr>
          </a:p>
        </p:txBody>
      </p:sp>
      <p:sp>
        <p:nvSpPr>
          <p:cNvPr id="442" name="Google Shape;442;p53"/>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16</a:t>
            </a:r>
            <a:endParaRPr b="1" i="0" sz="1800" u="none" cap="none" strike="noStrike">
              <a:solidFill>
                <a:schemeClr val="lt1"/>
              </a:solidFill>
              <a:latin typeface="Times New Roman"/>
              <a:ea typeface="Times New Roman"/>
              <a:cs typeface="Times New Roman"/>
              <a:sym typeface="Times New Roman"/>
            </a:endParaRPr>
          </a:p>
        </p:txBody>
      </p:sp>
      <p:sp>
        <p:nvSpPr>
          <p:cNvPr id="443" name="Google Shape;443;p53"/>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lang="en-US" sz="1800">
                <a:solidFill>
                  <a:schemeClr val="lt1"/>
                </a:solidFill>
                <a:latin typeface="Times New Roman"/>
                <a:ea typeface="Times New Roman"/>
                <a:cs typeface="Times New Roman"/>
                <a:sym typeface="Times New Roman"/>
              </a:rPr>
              <a:t>b</a:t>
            </a:r>
            <a:r>
              <a:rPr b="1" i="0" lang="en-US" sz="1800" u="none" cap="none" strike="noStrike">
                <a:solidFill>
                  <a:schemeClr val="lt1"/>
                </a:solidFill>
                <a:latin typeface="Times New Roman"/>
                <a:ea typeface="Times New Roman"/>
                <a:cs typeface="Times New Roman"/>
                <a:sym typeface="Times New Roman"/>
              </a:rPr>
              <a:t>)</a:t>
            </a:r>
            <a:endParaRPr b="1" i="0" sz="1800" u="none" cap="none" strike="noStrike">
              <a:solidFill>
                <a:schemeClr val="lt1"/>
              </a:solidFill>
              <a:latin typeface="Times New Roman"/>
              <a:ea typeface="Times New Roman"/>
              <a:cs typeface="Times New Roman"/>
              <a:sym typeface="Times New Roman"/>
            </a:endParaRPr>
          </a:p>
        </p:txBody>
      </p:sp>
      <p:cxnSp>
        <p:nvCxnSpPr>
          <p:cNvPr id="444" name="Google Shape;444;p53"/>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45" name="Google Shape;445;p53"/>
          <p:cNvSpPr txBox="1"/>
          <p:nvPr/>
        </p:nvSpPr>
        <p:spPr>
          <a:xfrm>
            <a:off x="880825" y="1255800"/>
            <a:ext cx="3759300" cy="170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000">
                <a:solidFill>
                  <a:schemeClr val="dk1"/>
                </a:solidFill>
              </a:rPr>
              <a:t>There are 5 users: </a:t>
            </a:r>
            <a:r>
              <a:rPr b="1" lang="en-US" sz="1000">
                <a:solidFill>
                  <a:schemeClr val="dk1"/>
                </a:solidFill>
              </a:rPr>
              <a:t>A, B, C, D, and E</a:t>
            </a:r>
            <a:r>
              <a:rPr lang="en-US" sz="1000">
                <a:solidFill>
                  <a:schemeClr val="dk1"/>
                </a:solidFill>
              </a:rPr>
              <a:t>.</a:t>
            </a:r>
            <a:endParaRPr sz="1000">
              <a:solidFill>
                <a:schemeClr val="dk1"/>
              </a:solidFill>
            </a:endParaRPr>
          </a:p>
          <a:p>
            <a:pPr indent="0" lvl="0" marL="0" rtl="0" algn="l">
              <a:lnSpc>
                <a:spcPct val="115000"/>
              </a:lnSpc>
              <a:spcBef>
                <a:spcPts val="1200"/>
              </a:spcBef>
              <a:spcAft>
                <a:spcPts val="0"/>
              </a:spcAft>
              <a:buNone/>
            </a:pPr>
            <a:r>
              <a:rPr lang="en-US" sz="1000">
                <a:solidFill>
                  <a:schemeClr val="dk1"/>
                </a:solidFill>
              </a:rPr>
              <a:t>The problem states that </a:t>
            </a:r>
            <a:r>
              <a:rPr b="1" lang="en-US" sz="1000">
                <a:solidFill>
                  <a:schemeClr val="dk1"/>
                </a:solidFill>
              </a:rPr>
              <a:t>10 influence points</a:t>
            </a:r>
            <a:r>
              <a:rPr lang="en-US" sz="1000">
                <a:solidFill>
                  <a:schemeClr val="dk1"/>
                </a:solidFill>
              </a:rPr>
              <a:t> are initially given to each user </a:t>
            </a:r>
            <a:r>
              <a:rPr b="1" lang="en-US" sz="1000">
                <a:solidFill>
                  <a:schemeClr val="dk1"/>
                </a:solidFill>
              </a:rPr>
              <a:t>equally</a:t>
            </a:r>
            <a:r>
              <a:rPr lang="en-US" sz="1000">
                <a:solidFill>
                  <a:schemeClr val="dk1"/>
                </a:solidFill>
              </a:rPr>
              <a:t>.</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US" sz="1000">
                <a:solidFill>
                  <a:schemeClr val="dk1"/>
                </a:solidFill>
              </a:rPr>
              <a:t>Total points = 10.</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rPr>
              <a:t>Since they are given to the top 5 users equally, each user starts with 10 / 5 = 2 points.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rPr>
              <a:t>Initial Points (P</a:t>
            </a:r>
            <a:r>
              <a:rPr b="1" baseline="-25000" lang="en-US" sz="1000">
                <a:solidFill>
                  <a:schemeClr val="dk1"/>
                </a:solidFill>
              </a:rPr>
              <a:t>0</a:t>
            </a:r>
            <a:r>
              <a:rPr b="1" lang="en-US" sz="1000">
                <a:solidFill>
                  <a:schemeClr val="dk1"/>
                </a:solidFill>
              </a:rPr>
              <a:t>):</a:t>
            </a:r>
            <a:r>
              <a:rPr lang="en-US" sz="1000">
                <a:solidFill>
                  <a:schemeClr val="dk1"/>
                </a:solidFill>
              </a:rPr>
              <a:t> A=2, B=2, C=2, D=2, E=2.</a:t>
            </a:r>
            <a:endParaRPr sz="1000">
              <a:solidFill>
                <a:schemeClr val="dk1"/>
              </a:solidFill>
            </a:endParaRPr>
          </a:p>
        </p:txBody>
      </p:sp>
      <p:sp>
        <p:nvSpPr>
          <p:cNvPr id="446" name="Google Shape;446;p53"/>
          <p:cNvSpPr txBox="1"/>
          <p:nvPr/>
        </p:nvSpPr>
        <p:spPr>
          <a:xfrm>
            <a:off x="4939000" y="836000"/>
            <a:ext cx="4149900" cy="261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000">
                <a:solidFill>
                  <a:schemeClr val="dk1"/>
                </a:solidFill>
              </a:rPr>
              <a:t>Each user distributes their points </a:t>
            </a:r>
            <a:r>
              <a:rPr b="1" lang="en-US" sz="1000">
                <a:solidFill>
                  <a:schemeClr val="dk1"/>
                </a:solidFill>
              </a:rPr>
              <a:t>equally</a:t>
            </a:r>
            <a:r>
              <a:rPr lang="en-US" sz="1000">
                <a:solidFill>
                  <a:schemeClr val="dk1"/>
                </a:solidFill>
              </a:rPr>
              <a:t> among the users they follow. The number of points shared with each followed user depends on the user's "out-degree" (the number of people they follow).</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en-US" sz="1000">
                <a:solidFill>
                  <a:schemeClr val="dk1"/>
                </a:solidFill>
              </a:rPr>
              <a:t>A follows B and C:</a:t>
            </a:r>
            <a:r>
              <a:rPr lang="en-US" sz="1000">
                <a:solidFill>
                  <a:schemeClr val="dk1"/>
                </a:solidFill>
              </a:rPr>
              <a:t> Out-degree = 2.</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i="1" lang="en-US" sz="1000">
                <a:solidFill>
                  <a:schemeClr val="dk1"/>
                </a:solidFill>
              </a:rPr>
              <a:t>A gives 2 / 2 = 1 point to B and 1 point to C.</a:t>
            </a:r>
            <a:endParaRPr i="1"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rPr>
              <a:t>B follows C and D:</a:t>
            </a:r>
            <a:r>
              <a:rPr lang="en-US" sz="1000">
                <a:solidFill>
                  <a:schemeClr val="dk1"/>
                </a:solidFill>
              </a:rPr>
              <a:t> Out-degree = 2.</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i="1" lang="en-US" sz="1000">
                <a:solidFill>
                  <a:schemeClr val="dk1"/>
                </a:solidFill>
              </a:rPr>
              <a:t>B gives 2 / 2 = 1 point to C and 1 point to D.</a:t>
            </a:r>
            <a:endParaRPr i="1"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rPr>
              <a:t>C follows D and E:</a:t>
            </a:r>
            <a:r>
              <a:rPr lang="en-US" sz="1000">
                <a:solidFill>
                  <a:schemeClr val="dk1"/>
                </a:solidFill>
              </a:rPr>
              <a:t> Out-degree = 2.</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i="1" lang="en-US" sz="1000">
                <a:solidFill>
                  <a:schemeClr val="dk1"/>
                </a:solidFill>
              </a:rPr>
              <a:t>C gives 2 / 2 = 1 point to D and 1 point to E.</a:t>
            </a:r>
            <a:endParaRPr i="1"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rPr>
              <a:t>D follows E:</a:t>
            </a:r>
            <a:r>
              <a:rPr lang="en-US" sz="1000">
                <a:solidFill>
                  <a:schemeClr val="dk1"/>
                </a:solidFill>
              </a:rPr>
              <a:t> Out-degree = 1.</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i="1" lang="en-US" sz="1000">
                <a:solidFill>
                  <a:schemeClr val="dk1"/>
                </a:solidFill>
              </a:rPr>
              <a:t>D gives 2 / 1 = 2 points to E.</a:t>
            </a:r>
            <a:endParaRPr i="1"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rPr>
              <a:t>E follows A:</a:t>
            </a:r>
            <a:r>
              <a:rPr lang="en-US" sz="1000">
                <a:solidFill>
                  <a:schemeClr val="dk1"/>
                </a:solidFill>
              </a:rPr>
              <a:t> Out-degree = 1.</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i="1" lang="en-US" sz="1000">
                <a:solidFill>
                  <a:schemeClr val="dk1"/>
                </a:solidFill>
              </a:rPr>
              <a:t>E gives 2 / 1 = 2 points to A.</a:t>
            </a:r>
            <a:endParaRPr i="1" sz="1000">
              <a:solidFill>
                <a:schemeClr val="dk1"/>
              </a:solidFill>
            </a:endParaRPr>
          </a:p>
        </p:txBody>
      </p:sp>
      <p:sp>
        <p:nvSpPr>
          <p:cNvPr id="447" name="Google Shape;447;p53"/>
          <p:cNvSpPr txBox="1"/>
          <p:nvPr/>
        </p:nvSpPr>
        <p:spPr>
          <a:xfrm>
            <a:off x="23925" y="2964300"/>
            <a:ext cx="2335500" cy="120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000">
                <a:solidFill>
                  <a:schemeClr val="dk1"/>
                </a:solidFill>
              </a:rPr>
              <a:t>User </a:t>
            </a:r>
            <a:r>
              <a:rPr b="1" lang="en-US" sz="1000">
                <a:solidFill>
                  <a:schemeClr val="dk1"/>
                </a:solidFill>
              </a:rPr>
              <a:t>D</a:t>
            </a:r>
            <a:r>
              <a:rPr lang="en-US" sz="1000">
                <a:solidFill>
                  <a:schemeClr val="dk1"/>
                </a:solidFill>
              </a:rPr>
              <a:t> receives points from any user who follows them. Based on the relationships above:</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en-US" sz="1000">
                <a:solidFill>
                  <a:schemeClr val="dk1"/>
                </a:solidFill>
              </a:rPr>
              <a:t>B</a:t>
            </a:r>
            <a:r>
              <a:rPr lang="en-US" sz="1000">
                <a:solidFill>
                  <a:schemeClr val="dk1"/>
                </a:solidFill>
              </a:rPr>
              <a:t> follows D.</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rPr>
              <a:t>C</a:t>
            </a:r>
            <a:r>
              <a:rPr lang="en-US" sz="1000">
                <a:solidFill>
                  <a:schemeClr val="dk1"/>
                </a:solidFill>
              </a:rPr>
              <a:t> follows D.</a:t>
            </a:r>
            <a:endParaRPr sz="1000">
              <a:solidFill>
                <a:schemeClr val="dk1"/>
              </a:solidFill>
            </a:endParaRPr>
          </a:p>
        </p:txBody>
      </p:sp>
      <p:sp>
        <p:nvSpPr>
          <p:cNvPr id="448" name="Google Shape;448;p53"/>
          <p:cNvSpPr txBox="1"/>
          <p:nvPr/>
        </p:nvSpPr>
        <p:spPr>
          <a:xfrm>
            <a:off x="1298300" y="3499800"/>
            <a:ext cx="3000000" cy="120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000">
                <a:solidFill>
                  <a:schemeClr val="dk1"/>
                </a:solidFill>
              </a:rPr>
              <a:t>Summing the points sent to D:</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US" sz="1000">
                <a:solidFill>
                  <a:schemeClr val="dk1"/>
                </a:solidFill>
              </a:rPr>
              <a:t>Points from B to D: 1 point.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rPr>
              <a:t>Points from C to D: 1 point.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rPr>
              <a:t>Total points received by D</a:t>
            </a:r>
            <a:r>
              <a:rPr lang="en-US" sz="1000">
                <a:solidFill>
                  <a:schemeClr val="dk1"/>
                </a:solidFill>
              </a:rPr>
              <a:t> = 1 + 1 = 2 points.</a:t>
            </a:r>
            <a:endParaRPr/>
          </a:p>
        </p:txBody>
      </p:sp>
      <p:sp>
        <p:nvSpPr>
          <p:cNvPr id="449" name="Google Shape;449;p53"/>
          <p:cNvSpPr txBox="1"/>
          <p:nvPr/>
        </p:nvSpPr>
        <p:spPr>
          <a:xfrm>
            <a:off x="4362300" y="3333200"/>
            <a:ext cx="4781700" cy="177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900">
                <a:solidFill>
                  <a:schemeClr val="dk1"/>
                </a:solidFill>
              </a:rPr>
              <a:t>After one round of distribution, the points each user </a:t>
            </a:r>
            <a:r>
              <a:rPr b="1" lang="en-US" sz="900">
                <a:solidFill>
                  <a:schemeClr val="dk1"/>
                </a:solidFill>
              </a:rPr>
              <a:t>receives</a:t>
            </a:r>
            <a:r>
              <a:rPr lang="en-US" sz="900">
                <a:solidFill>
                  <a:schemeClr val="dk1"/>
                </a:solidFill>
              </a:rPr>
              <a:t> (and thus their new totals, as they distributed all initial points) are:</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b="1" lang="en-US" sz="900">
                <a:solidFill>
                  <a:schemeClr val="dk1"/>
                </a:solidFill>
              </a:rPr>
              <a:t>A</a:t>
            </a:r>
            <a:r>
              <a:rPr lang="en-US" sz="900">
                <a:solidFill>
                  <a:schemeClr val="dk1"/>
                </a:solidFill>
              </a:rPr>
              <a:t> receives from E: </a:t>
            </a:r>
            <a:r>
              <a:rPr b="1" lang="en-US" sz="900">
                <a:solidFill>
                  <a:schemeClr val="dk1"/>
                </a:solidFill>
              </a:rPr>
              <a:t>2</a:t>
            </a:r>
            <a:r>
              <a:rPr lang="en-US" sz="900">
                <a:solidFill>
                  <a:schemeClr val="dk1"/>
                </a:solidFill>
              </a:rPr>
              <a:t> points.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900">
                <a:solidFill>
                  <a:schemeClr val="dk1"/>
                </a:solidFill>
              </a:rPr>
              <a:t>B</a:t>
            </a:r>
            <a:r>
              <a:rPr lang="en-US" sz="900">
                <a:solidFill>
                  <a:schemeClr val="dk1"/>
                </a:solidFill>
              </a:rPr>
              <a:t> receives from A: </a:t>
            </a:r>
            <a:r>
              <a:rPr b="1" lang="en-US" sz="900">
                <a:solidFill>
                  <a:schemeClr val="dk1"/>
                </a:solidFill>
              </a:rPr>
              <a:t>1</a:t>
            </a:r>
            <a:r>
              <a:rPr lang="en-US" sz="900">
                <a:solidFill>
                  <a:schemeClr val="dk1"/>
                </a:solidFill>
              </a:rPr>
              <a:t> point.</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900">
                <a:solidFill>
                  <a:schemeClr val="dk1"/>
                </a:solidFill>
              </a:rPr>
              <a:t>C</a:t>
            </a:r>
            <a:r>
              <a:rPr lang="en-US" sz="900">
                <a:solidFill>
                  <a:schemeClr val="dk1"/>
                </a:solidFill>
              </a:rPr>
              <a:t> receives from A and B: 1 + 1 = </a:t>
            </a:r>
            <a:r>
              <a:rPr b="1" lang="en-US" sz="900">
                <a:solidFill>
                  <a:schemeClr val="dk1"/>
                </a:solidFill>
              </a:rPr>
              <a:t>2</a:t>
            </a:r>
            <a:r>
              <a:rPr lang="en-US" sz="900">
                <a:solidFill>
                  <a:schemeClr val="dk1"/>
                </a:solidFill>
              </a:rPr>
              <a:t> points.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900">
                <a:solidFill>
                  <a:schemeClr val="dk1"/>
                </a:solidFill>
              </a:rPr>
              <a:t>D</a:t>
            </a:r>
            <a:r>
              <a:rPr lang="en-US" sz="900">
                <a:solidFill>
                  <a:schemeClr val="dk1"/>
                </a:solidFill>
              </a:rPr>
              <a:t> receives from B and C: 1 + 1 = </a:t>
            </a:r>
            <a:r>
              <a:rPr b="1" lang="en-US" sz="900">
                <a:solidFill>
                  <a:schemeClr val="dk1"/>
                </a:solidFill>
              </a:rPr>
              <a:t>2</a:t>
            </a:r>
            <a:r>
              <a:rPr lang="en-US" sz="900">
                <a:solidFill>
                  <a:schemeClr val="dk1"/>
                </a:solidFill>
              </a:rPr>
              <a:t> points.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900">
                <a:solidFill>
                  <a:schemeClr val="dk1"/>
                </a:solidFill>
              </a:rPr>
              <a:t>E</a:t>
            </a:r>
            <a:r>
              <a:rPr lang="en-US" sz="900">
                <a:solidFill>
                  <a:schemeClr val="dk1"/>
                </a:solidFill>
              </a:rPr>
              <a:t> receives from C and D: 1 + 2 = </a:t>
            </a:r>
            <a:r>
              <a:rPr b="1" lang="en-US" sz="900">
                <a:solidFill>
                  <a:schemeClr val="dk1"/>
                </a:solidFill>
              </a:rPr>
              <a:t>3</a:t>
            </a:r>
            <a:r>
              <a:rPr lang="en-US" sz="900">
                <a:solidFill>
                  <a:schemeClr val="dk1"/>
                </a:solidFill>
              </a:rPr>
              <a:t> points.</a:t>
            </a:r>
            <a:endParaRPr sz="900">
              <a:solidFill>
                <a:schemeClr val="dk1"/>
              </a:solidFill>
            </a:endParaRPr>
          </a:p>
          <a:p>
            <a:pPr indent="0" lvl="0" marL="0" rtl="0" algn="l">
              <a:lnSpc>
                <a:spcPct val="115000"/>
              </a:lnSpc>
              <a:spcBef>
                <a:spcPts val="1200"/>
              </a:spcBef>
              <a:spcAft>
                <a:spcPts val="1200"/>
              </a:spcAft>
              <a:buNone/>
            </a:pPr>
            <a:r>
              <a:rPr b="1" lang="en-US" sz="900">
                <a:solidFill>
                  <a:schemeClr val="dk1"/>
                </a:solidFill>
              </a:rPr>
              <a:t>Total points = 2 + 1 + 2 + 2 + 3 = 10</a:t>
            </a:r>
            <a:r>
              <a:rPr lang="en-US" sz="900">
                <a:solidFill>
                  <a:schemeClr val="dk1"/>
                </a:solidFill>
              </a:rPr>
              <a:t>. The sum remains consistent</a:t>
            </a:r>
            <a:r>
              <a:rPr lang="en-US" sz="1100">
                <a:solidFill>
                  <a:schemeClr val="dk1"/>
                </a:solidFill>
              </a:rPr>
              <a:t>.</a:t>
            </a:r>
            <a:endParaRPr sz="11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5"/>
                                        </p:tgtEl>
                                        <p:attrNameLst>
                                          <p:attrName>style.visibility</p:attrName>
                                        </p:attrNameLst>
                                      </p:cBhvr>
                                      <p:to>
                                        <p:strVal val="visible"/>
                                      </p:to>
                                    </p:set>
                                    <p:anim calcmode="lin" valueType="num">
                                      <p:cBhvr additive="base">
                                        <p:cTn dur="1000"/>
                                        <p:tgtEl>
                                          <p:spTgt spid="4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46"/>
                                        </p:tgtEl>
                                        <p:attrNameLst>
                                          <p:attrName>style.visibility</p:attrName>
                                        </p:attrNameLst>
                                      </p:cBhvr>
                                      <p:to>
                                        <p:strVal val="visible"/>
                                      </p:to>
                                    </p:set>
                                    <p:anim calcmode="lin" valueType="num">
                                      <p:cBhvr additive="base">
                                        <p:cTn dur="1000"/>
                                        <p:tgtEl>
                                          <p:spTgt spid="44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7"/>
                                        </p:tgtEl>
                                        <p:attrNameLst>
                                          <p:attrName>style.visibility</p:attrName>
                                        </p:attrNameLst>
                                      </p:cBhvr>
                                      <p:to>
                                        <p:strVal val="visible"/>
                                      </p:to>
                                    </p:set>
                                    <p:anim calcmode="lin" valueType="num">
                                      <p:cBhvr additive="base">
                                        <p:cTn dur="1000"/>
                                        <p:tgtEl>
                                          <p:spTgt spid="44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8"/>
                                        </p:tgtEl>
                                        <p:attrNameLst>
                                          <p:attrName>style.visibility</p:attrName>
                                        </p:attrNameLst>
                                      </p:cBhvr>
                                      <p:to>
                                        <p:strVal val="visible"/>
                                      </p:to>
                                    </p:set>
                                    <p:anim calcmode="lin" valueType="num">
                                      <p:cBhvr additive="base">
                                        <p:cTn dur="1000"/>
                                        <p:tgtEl>
                                          <p:spTgt spid="44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1000"/>
                                        <p:tgtEl>
                                          <p:spTgt spid="44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par>
                                <p:cTn fill="hold" nodeType="with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par>
                                <p:cTn fill="hold" nodeType="with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500"/>
                                        <p:tgtEl>
                                          <p:spTgt spid="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4"/>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17</a:t>
            </a:r>
            <a:endParaRPr b="1" i="0" sz="1800" u="none" cap="none" strike="noStrike">
              <a:solidFill>
                <a:schemeClr val="lt1"/>
              </a:solidFill>
              <a:latin typeface="Times New Roman"/>
              <a:ea typeface="Times New Roman"/>
              <a:cs typeface="Times New Roman"/>
              <a:sym typeface="Times New Roman"/>
            </a:endParaRPr>
          </a:p>
        </p:txBody>
      </p:sp>
      <p:sp>
        <p:nvSpPr>
          <p:cNvPr id="456" name="Google Shape;456;p54"/>
          <p:cNvSpPr txBox="1"/>
          <p:nvPr/>
        </p:nvSpPr>
        <p:spPr>
          <a:xfrm>
            <a:off x="76510" y="235401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17</a:t>
            </a:r>
            <a:endParaRPr b="1" i="0" sz="1800" u="none" cap="none" strike="noStrike">
              <a:solidFill>
                <a:schemeClr val="lt1"/>
              </a:solidFill>
              <a:latin typeface="Times New Roman"/>
              <a:ea typeface="Times New Roman"/>
              <a:cs typeface="Times New Roman"/>
              <a:sym typeface="Times New Roman"/>
            </a:endParaRPr>
          </a:p>
        </p:txBody>
      </p:sp>
      <p:sp>
        <p:nvSpPr>
          <p:cNvPr id="457" name="Google Shape;457;p54"/>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17</a:t>
            </a:r>
            <a:endParaRPr b="1" i="0" sz="1800" u="none" cap="none" strike="noStrike">
              <a:solidFill>
                <a:schemeClr val="lt1"/>
              </a:solidFill>
              <a:latin typeface="Times New Roman"/>
              <a:ea typeface="Times New Roman"/>
              <a:cs typeface="Times New Roman"/>
              <a:sym typeface="Times New Roman"/>
            </a:endParaRPr>
          </a:p>
        </p:txBody>
      </p:sp>
      <p:sp>
        <p:nvSpPr>
          <p:cNvPr id="458" name="Google Shape;458;p54"/>
          <p:cNvSpPr txBox="1"/>
          <p:nvPr/>
        </p:nvSpPr>
        <p:spPr>
          <a:xfrm>
            <a:off x="3127729" y="4771822"/>
            <a:ext cx="11328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459" name="Google Shape;459;p54"/>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60" name="Google Shape;460;p54"/>
          <p:cNvSpPr txBox="1"/>
          <p:nvPr/>
        </p:nvSpPr>
        <p:spPr>
          <a:xfrm>
            <a:off x="42643" y="432561"/>
            <a:ext cx="83496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S2 is linked by both S1 and S3. S4 is linked only by S3. If all links are equal, which bus</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stop is likely to have the highest PageRank?</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S1</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S2</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S3</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S4.</a:t>
            </a:r>
            <a:endParaRPr b="0" i="0" sz="1800" u="none" cap="none" strike="noStrike">
              <a:solidFill>
                <a:schemeClr val="dk1"/>
              </a:solidFill>
              <a:latin typeface="Times New Roman"/>
              <a:ea typeface="Times New Roman"/>
              <a:cs typeface="Times New Roman"/>
              <a:sym typeface="Times New Roman"/>
            </a:endParaRPr>
          </a:p>
        </p:txBody>
      </p:sp>
      <p:pic>
        <p:nvPicPr>
          <p:cNvPr id="461" name="Google Shape;461;p54"/>
          <p:cNvPicPr preferRelativeResize="0"/>
          <p:nvPr/>
        </p:nvPicPr>
        <p:blipFill rotWithShape="1">
          <a:blip r:embed="rId3">
            <a:alphaModFix/>
          </a:blip>
          <a:srcRect b="0" l="0" r="0" t="0"/>
          <a:stretch/>
        </p:blipFill>
        <p:spPr>
          <a:xfrm>
            <a:off x="42643" y="2700260"/>
            <a:ext cx="5644038" cy="19472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1000"/>
                                        <p:tgtEl>
                                          <p:spTgt spid="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1000"/>
                                        <p:tgtEl>
                                          <p:spTgt spid="458"/>
                                        </p:tgtEl>
                                      </p:cBhvr>
                                    </p:animEffect>
                                  </p:childTnLst>
                                </p:cTn>
                              </p:par>
                              <p:par>
                                <p:cTn fill="hold" nodeType="with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1000"/>
                                        <p:tgtEl>
                                          <p:spTgt spid="459"/>
                                        </p:tgtEl>
                                      </p:cBhvr>
                                    </p:animEffect>
                                  </p:childTnLst>
                                </p:cTn>
                              </p:par>
                              <p:par>
                                <p:cTn fill="hold" nodeType="with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1000"/>
                                        <p:tgtEl>
                                          <p:spTgt spid="4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5"/>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18</a:t>
            </a:r>
            <a:endParaRPr b="1" i="0" sz="1800" u="none" cap="none" strike="noStrike">
              <a:solidFill>
                <a:schemeClr val="lt1"/>
              </a:solidFill>
              <a:latin typeface="Times New Roman"/>
              <a:ea typeface="Times New Roman"/>
              <a:cs typeface="Times New Roman"/>
              <a:sym typeface="Times New Roman"/>
            </a:endParaRPr>
          </a:p>
        </p:txBody>
      </p:sp>
      <p:sp>
        <p:nvSpPr>
          <p:cNvPr id="468" name="Google Shape;468;p55"/>
          <p:cNvSpPr txBox="1"/>
          <p:nvPr/>
        </p:nvSpPr>
        <p:spPr>
          <a:xfrm>
            <a:off x="42643" y="207882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18</a:t>
            </a:r>
            <a:endParaRPr b="1" i="0" sz="1800" u="none" cap="none" strike="noStrike">
              <a:solidFill>
                <a:schemeClr val="lt1"/>
              </a:solidFill>
              <a:latin typeface="Times New Roman"/>
              <a:ea typeface="Times New Roman"/>
              <a:cs typeface="Times New Roman"/>
              <a:sym typeface="Times New Roman"/>
            </a:endParaRPr>
          </a:p>
        </p:txBody>
      </p:sp>
      <p:sp>
        <p:nvSpPr>
          <p:cNvPr id="469" name="Google Shape;469;p55"/>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18</a:t>
            </a:r>
            <a:endParaRPr b="1" i="0" sz="1800" u="none" cap="none" strike="noStrike">
              <a:solidFill>
                <a:schemeClr val="lt1"/>
              </a:solidFill>
              <a:latin typeface="Times New Roman"/>
              <a:ea typeface="Times New Roman"/>
              <a:cs typeface="Times New Roman"/>
              <a:sym typeface="Times New Roman"/>
            </a:endParaRPr>
          </a:p>
        </p:txBody>
      </p:sp>
      <p:sp>
        <p:nvSpPr>
          <p:cNvPr id="470" name="Google Shape;470;p55"/>
          <p:cNvSpPr txBox="1"/>
          <p:nvPr/>
        </p:nvSpPr>
        <p:spPr>
          <a:xfrm>
            <a:off x="3127729" y="4771822"/>
            <a:ext cx="11328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471" name="Google Shape;471;p55"/>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72" name="Google Shape;472;p55"/>
          <p:cNvSpPr txBox="1"/>
          <p:nvPr/>
        </p:nvSpPr>
        <p:spPr>
          <a:xfrm>
            <a:off x="42643" y="432561"/>
            <a:ext cx="89931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Why is PageRank preferred over Degree Rank for ranking websites?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Considers importance of linking sites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Faster to compute</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Uses less memory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Handles dangling nodes better.</a:t>
            </a:r>
            <a:endParaRPr/>
          </a:p>
        </p:txBody>
      </p:sp>
      <p:pic>
        <p:nvPicPr>
          <p:cNvPr id="473" name="Google Shape;473;p55"/>
          <p:cNvPicPr preferRelativeResize="0"/>
          <p:nvPr/>
        </p:nvPicPr>
        <p:blipFill rotWithShape="1">
          <a:blip r:embed="rId3">
            <a:alphaModFix/>
          </a:blip>
          <a:srcRect b="0" l="0" r="0" t="0"/>
          <a:stretch/>
        </p:blipFill>
        <p:spPr>
          <a:xfrm>
            <a:off x="0" y="2681368"/>
            <a:ext cx="7772401" cy="18261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000"/>
                                        <p:tgtEl>
                                          <p:spTgt spid="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par>
                                <p:cTn fill="hold" nodeType="with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000"/>
                                        <p:tgtEl>
                                          <p:spTgt spid="471"/>
                                        </p:tgtEl>
                                      </p:cBhvr>
                                    </p:animEffect>
                                  </p:childTnLst>
                                </p:cTn>
                              </p:par>
                              <p:par>
                                <p:cTn fill="hold" nodeType="with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1000"/>
                                        <p:tgtEl>
                                          <p:spTgt spid="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6"/>
          <p:cNvSpPr txBox="1"/>
          <p:nvPr/>
        </p:nvSpPr>
        <p:spPr>
          <a:xfrm>
            <a:off x="0" y="28778"/>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19</a:t>
            </a:r>
            <a:endParaRPr b="1" i="0" sz="1800" u="none" cap="none" strike="noStrike">
              <a:solidFill>
                <a:schemeClr val="lt1"/>
              </a:solidFill>
              <a:latin typeface="Times New Roman"/>
              <a:ea typeface="Times New Roman"/>
              <a:cs typeface="Times New Roman"/>
              <a:sym typeface="Times New Roman"/>
            </a:endParaRPr>
          </a:p>
        </p:txBody>
      </p:sp>
      <p:sp>
        <p:nvSpPr>
          <p:cNvPr id="480" name="Google Shape;480;p56"/>
          <p:cNvSpPr txBox="1"/>
          <p:nvPr/>
        </p:nvSpPr>
        <p:spPr>
          <a:xfrm>
            <a:off x="26980" y="201130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19</a:t>
            </a:r>
            <a:endParaRPr b="1" i="0" sz="1800" u="none" cap="none" strike="noStrike">
              <a:solidFill>
                <a:schemeClr val="lt1"/>
              </a:solidFill>
              <a:latin typeface="Times New Roman"/>
              <a:ea typeface="Times New Roman"/>
              <a:cs typeface="Times New Roman"/>
              <a:sym typeface="Times New Roman"/>
            </a:endParaRPr>
          </a:p>
        </p:txBody>
      </p:sp>
      <p:sp>
        <p:nvSpPr>
          <p:cNvPr id="481" name="Google Shape;481;p56"/>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19</a:t>
            </a:r>
            <a:endParaRPr b="1" i="0" sz="1800" u="none" cap="none" strike="noStrike">
              <a:solidFill>
                <a:schemeClr val="lt1"/>
              </a:solidFill>
              <a:latin typeface="Times New Roman"/>
              <a:ea typeface="Times New Roman"/>
              <a:cs typeface="Times New Roman"/>
              <a:sym typeface="Times New Roman"/>
            </a:endParaRPr>
          </a:p>
        </p:txBody>
      </p:sp>
      <p:sp>
        <p:nvSpPr>
          <p:cNvPr id="482" name="Google Shape;482;p56"/>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483" name="Google Shape;483;p56"/>
          <p:cNvCxnSpPr/>
          <p:nvPr/>
        </p:nvCxnSpPr>
        <p:spPr>
          <a:xfrm>
            <a:off x="2798531"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84" name="Google Shape;484;p56"/>
          <p:cNvSpPr txBox="1"/>
          <p:nvPr/>
        </p:nvSpPr>
        <p:spPr>
          <a:xfrm>
            <a:off x="18626" y="339477"/>
            <a:ext cx="9106800" cy="169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Times New Roman"/>
                <a:ea typeface="Times New Roman"/>
                <a:cs typeface="Times New Roman"/>
                <a:sym typeface="Times New Roman"/>
              </a:rPr>
              <a:t>What term describes the process where a post is shared by users to their followers, creating a chain of sharing?</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Clustering</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Diffusion</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Modularity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Centrality</a:t>
            </a:r>
            <a:endParaRPr b="0" i="0" sz="1600" u="none" cap="none" strike="noStrike">
              <a:solidFill>
                <a:schemeClr val="dk1"/>
              </a:solidFill>
              <a:latin typeface="Times New Roman"/>
              <a:ea typeface="Times New Roman"/>
              <a:cs typeface="Times New Roman"/>
              <a:sym typeface="Times New Roman"/>
            </a:endParaRPr>
          </a:p>
        </p:txBody>
      </p:sp>
      <p:pic>
        <p:nvPicPr>
          <p:cNvPr id="485" name="Google Shape;485;p56"/>
          <p:cNvPicPr preferRelativeResize="0"/>
          <p:nvPr/>
        </p:nvPicPr>
        <p:blipFill rotWithShape="1">
          <a:blip r:embed="rId3">
            <a:alphaModFix/>
          </a:blip>
          <a:srcRect b="0" l="0" r="0" t="0"/>
          <a:stretch/>
        </p:blipFill>
        <p:spPr>
          <a:xfrm>
            <a:off x="92515" y="2431617"/>
            <a:ext cx="6669234" cy="22581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000"/>
                                        <p:tgtEl>
                                          <p:spTgt spid="4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1000"/>
                                        <p:tgtEl>
                                          <p:spTgt spid="482"/>
                                        </p:tgtEl>
                                      </p:cBhvr>
                                    </p:animEffect>
                                  </p:childTnLst>
                                </p:cTn>
                              </p:par>
                              <p:par>
                                <p:cTn fill="hold" nodeType="with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1000"/>
                                        <p:tgtEl>
                                          <p:spTgt spid="483"/>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1000"/>
                                        <p:tgtEl>
                                          <p:spTgt spid="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7"/>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20</a:t>
            </a:r>
            <a:endParaRPr b="1" i="0" sz="1800" u="none" cap="none" strike="noStrike">
              <a:solidFill>
                <a:schemeClr val="lt1"/>
              </a:solidFill>
              <a:latin typeface="Times New Roman"/>
              <a:ea typeface="Times New Roman"/>
              <a:cs typeface="Times New Roman"/>
              <a:sym typeface="Times New Roman"/>
            </a:endParaRPr>
          </a:p>
        </p:txBody>
      </p:sp>
      <p:sp>
        <p:nvSpPr>
          <p:cNvPr id="492" name="Google Shape;492;p57"/>
          <p:cNvSpPr txBox="1"/>
          <p:nvPr/>
        </p:nvSpPr>
        <p:spPr>
          <a:xfrm>
            <a:off x="60960" y="200603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20</a:t>
            </a:r>
            <a:endParaRPr b="1" i="0" sz="1800" u="none" cap="none" strike="noStrike">
              <a:solidFill>
                <a:schemeClr val="lt1"/>
              </a:solidFill>
              <a:latin typeface="Times New Roman"/>
              <a:ea typeface="Times New Roman"/>
              <a:cs typeface="Times New Roman"/>
              <a:sym typeface="Times New Roman"/>
            </a:endParaRPr>
          </a:p>
        </p:txBody>
      </p:sp>
      <p:sp>
        <p:nvSpPr>
          <p:cNvPr id="493" name="Google Shape;493;p57"/>
          <p:cNvSpPr txBox="1"/>
          <p:nvPr/>
        </p:nvSpPr>
        <p:spPr>
          <a:xfrm>
            <a:off x="0" y="4763845"/>
            <a:ext cx="2727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20</a:t>
            </a:r>
            <a:endParaRPr b="1" i="0" sz="1800" u="none" cap="none" strike="noStrike">
              <a:solidFill>
                <a:schemeClr val="lt1"/>
              </a:solidFill>
              <a:latin typeface="Times New Roman"/>
              <a:ea typeface="Times New Roman"/>
              <a:cs typeface="Times New Roman"/>
              <a:sym typeface="Times New Roman"/>
            </a:endParaRPr>
          </a:p>
        </p:txBody>
      </p:sp>
      <p:sp>
        <p:nvSpPr>
          <p:cNvPr id="494" name="Google Shape;494;p57"/>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495" name="Google Shape;495;p57"/>
          <p:cNvCxnSpPr/>
          <p:nvPr/>
        </p:nvCxnSpPr>
        <p:spPr>
          <a:xfrm>
            <a:off x="27630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96" name="Google Shape;496;p57"/>
          <p:cNvSpPr txBox="1"/>
          <p:nvPr/>
        </p:nvSpPr>
        <p:spPr>
          <a:xfrm>
            <a:off x="0" y="432561"/>
            <a:ext cx="8833500" cy="14547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If a user’s threshold for sharing a post is 0.3, what does this mean in a threshold model?</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They share if 30% of their friends have shared</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They share if 3 friends have shared</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They share with 0.3 probability</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They share if 3 influencers have shared.</a:t>
            </a:r>
            <a:endParaRPr b="0" i="0" sz="1800" u="none" cap="none" strike="noStrike">
              <a:solidFill>
                <a:schemeClr val="dk1"/>
              </a:solidFill>
              <a:latin typeface="Times New Roman"/>
              <a:ea typeface="Times New Roman"/>
              <a:cs typeface="Times New Roman"/>
              <a:sym typeface="Times New Roman"/>
            </a:endParaRPr>
          </a:p>
        </p:txBody>
      </p:sp>
      <p:pic>
        <p:nvPicPr>
          <p:cNvPr id="497" name="Google Shape;497;p57"/>
          <p:cNvPicPr preferRelativeResize="0"/>
          <p:nvPr/>
        </p:nvPicPr>
        <p:blipFill rotWithShape="1">
          <a:blip r:embed="rId3">
            <a:alphaModFix/>
          </a:blip>
          <a:srcRect b="0" l="0" r="0" t="0"/>
          <a:stretch/>
        </p:blipFill>
        <p:spPr>
          <a:xfrm>
            <a:off x="60960" y="2571750"/>
            <a:ext cx="7772401" cy="16270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1000"/>
                                        <p:tgtEl>
                                          <p:spTgt spid="494"/>
                                        </p:tgtEl>
                                      </p:cBhvr>
                                    </p:animEffect>
                                  </p:childTnLst>
                                </p:cTn>
                              </p:par>
                              <p:par>
                                <p:cTn fill="hold" nodeType="with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1000"/>
                                        <p:tgtEl>
                                          <p:spTgt spid="495"/>
                                        </p:tgtEl>
                                      </p:cBhvr>
                                    </p:animEffect>
                                  </p:childTnLst>
                                </p:cTn>
                              </p:par>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000"/>
                                        <p:tgtEl>
                                          <p:spTgt spid="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8"/>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a:t>
            </a:r>
            <a:r>
              <a:rPr b="1" lang="en-US" sz="1800">
                <a:solidFill>
                  <a:schemeClr val="lt1"/>
                </a:solidFill>
                <a:latin typeface="Times New Roman"/>
                <a:ea typeface="Times New Roman"/>
                <a:cs typeface="Times New Roman"/>
                <a:sym typeface="Times New Roman"/>
              </a:rPr>
              <a:t> 21</a:t>
            </a:r>
            <a:endParaRPr b="1" i="0" sz="1800" u="none" cap="none" strike="noStrike">
              <a:solidFill>
                <a:schemeClr val="lt1"/>
              </a:solidFill>
              <a:latin typeface="Times New Roman"/>
              <a:ea typeface="Times New Roman"/>
              <a:cs typeface="Times New Roman"/>
              <a:sym typeface="Times New Roman"/>
            </a:endParaRPr>
          </a:p>
        </p:txBody>
      </p:sp>
      <p:sp>
        <p:nvSpPr>
          <p:cNvPr id="504" name="Google Shape;504;p58"/>
          <p:cNvSpPr txBox="1"/>
          <p:nvPr/>
        </p:nvSpPr>
        <p:spPr>
          <a:xfrm>
            <a:off x="83283" y="2065049"/>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21</a:t>
            </a:r>
            <a:endParaRPr b="1" i="0" sz="1800" u="none" cap="none" strike="noStrike">
              <a:solidFill>
                <a:schemeClr val="lt1"/>
              </a:solidFill>
              <a:latin typeface="Times New Roman"/>
              <a:ea typeface="Times New Roman"/>
              <a:cs typeface="Times New Roman"/>
              <a:sym typeface="Times New Roman"/>
            </a:endParaRPr>
          </a:p>
        </p:txBody>
      </p:sp>
      <p:sp>
        <p:nvSpPr>
          <p:cNvPr id="505" name="Google Shape;505;p58"/>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21</a:t>
            </a:r>
            <a:endParaRPr b="1" i="0" sz="1800" u="none" cap="none" strike="noStrike">
              <a:solidFill>
                <a:schemeClr val="lt1"/>
              </a:solidFill>
              <a:latin typeface="Times New Roman"/>
              <a:ea typeface="Times New Roman"/>
              <a:cs typeface="Times New Roman"/>
              <a:sym typeface="Times New Roman"/>
            </a:endParaRPr>
          </a:p>
        </p:txBody>
      </p:sp>
      <p:sp>
        <p:nvSpPr>
          <p:cNvPr id="506" name="Google Shape;506;p58"/>
          <p:cNvSpPr txBox="1"/>
          <p:nvPr/>
        </p:nvSpPr>
        <p:spPr>
          <a:xfrm>
            <a:off x="3127729" y="4771822"/>
            <a:ext cx="12276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507" name="Google Shape;507;p58"/>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08" name="Google Shape;508;p58"/>
          <p:cNvSpPr txBox="1"/>
          <p:nvPr/>
        </p:nvSpPr>
        <p:spPr>
          <a:xfrm>
            <a:off x="83283" y="510141"/>
            <a:ext cx="83496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What condition is needed for a large EV adoption cascade from a small seed set?</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Seed set includes all influencers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Network is fully connected</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Giant component with many nodes having low thresholds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All nodes have the same threshold.</a:t>
            </a:r>
            <a:endParaRPr/>
          </a:p>
        </p:txBody>
      </p:sp>
      <p:pic>
        <p:nvPicPr>
          <p:cNvPr id="509" name="Google Shape;509;p58"/>
          <p:cNvPicPr preferRelativeResize="0"/>
          <p:nvPr/>
        </p:nvPicPr>
        <p:blipFill rotWithShape="1">
          <a:blip r:embed="rId3">
            <a:alphaModFix/>
          </a:blip>
          <a:srcRect b="0" l="0" r="0" t="0"/>
          <a:stretch/>
        </p:blipFill>
        <p:spPr>
          <a:xfrm>
            <a:off x="83283" y="2440555"/>
            <a:ext cx="7772400" cy="21928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par>
                                <p:cTn fill="hold" nodeType="with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100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9"/>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22</a:t>
            </a:r>
            <a:endParaRPr b="1" i="0" sz="1800" u="none" cap="none" strike="noStrike">
              <a:solidFill>
                <a:schemeClr val="lt1"/>
              </a:solidFill>
              <a:latin typeface="Times New Roman"/>
              <a:ea typeface="Times New Roman"/>
              <a:cs typeface="Times New Roman"/>
              <a:sym typeface="Times New Roman"/>
            </a:endParaRPr>
          </a:p>
        </p:txBody>
      </p:sp>
      <p:sp>
        <p:nvSpPr>
          <p:cNvPr id="516" name="Google Shape;516;p59"/>
          <p:cNvSpPr txBox="1"/>
          <p:nvPr/>
        </p:nvSpPr>
        <p:spPr>
          <a:xfrm>
            <a:off x="3017815" y="1333023"/>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22</a:t>
            </a:r>
            <a:endParaRPr b="1" i="0" sz="1800" u="none" cap="none" strike="noStrike">
              <a:solidFill>
                <a:schemeClr val="lt1"/>
              </a:solidFill>
              <a:latin typeface="Times New Roman"/>
              <a:ea typeface="Times New Roman"/>
              <a:cs typeface="Times New Roman"/>
              <a:sym typeface="Times New Roman"/>
            </a:endParaRPr>
          </a:p>
        </p:txBody>
      </p:sp>
      <p:sp>
        <p:nvSpPr>
          <p:cNvPr id="517" name="Google Shape;517;p59"/>
          <p:cNvSpPr txBox="1"/>
          <p:nvPr/>
        </p:nvSpPr>
        <p:spPr>
          <a:xfrm>
            <a:off x="0" y="4763848"/>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22</a:t>
            </a:r>
            <a:endParaRPr b="1" i="0" sz="1800" u="none" cap="none" strike="noStrike">
              <a:solidFill>
                <a:schemeClr val="lt1"/>
              </a:solidFill>
              <a:latin typeface="Times New Roman"/>
              <a:ea typeface="Times New Roman"/>
              <a:cs typeface="Times New Roman"/>
              <a:sym typeface="Times New Roman"/>
            </a:endParaRPr>
          </a:p>
        </p:txBody>
      </p:sp>
      <p:sp>
        <p:nvSpPr>
          <p:cNvPr id="518" name="Google Shape;518;p59"/>
          <p:cNvSpPr txBox="1"/>
          <p:nvPr/>
        </p:nvSpPr>
        <p:spPr>
          <a:xfrm>
            <a:off x="3017816" y="4763840"/>
            <a:ext cx="1046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 c)</a:t>
            </a:r>
            <a:endParaRPr b="1" i="0" sz="1800" u="none" cap="none" strike="noStrike">
              <a:solidFill>
                <a:schemeClr val="lt1"/>
              </a:solidFill>
              <a:latin typeface="Times New Roman"/>
              <a:ea typeface="Times New Roman"/>
              <a:cs typeface="Times New Roman"/>
              <a:sym typeface="Times New Roman"/>
            </a:endParaRPr>
          </a:p>
        </p:txBody>
      </p:sp>
      <p:cxnSp>
        <p:nvCxnSpPr>
          <p:cNvPr id="519" name="Google Shape;519;p59"/>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20" name="Google Shape;520;p59"/>
          <p:cNvSpPr txBox="1"/>
          <p:nvPr/>
        </p:nvSpPr>
        <p:spPr>
          <a:xfrm>
            <a:off x="58038" y="534911"/>
            <a:ext cx="9027900" cy="135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 </a:t>
            </a:r>
            <a:r>
              <a:rPr b="0" i="0" lang="en-US" sz="1600" u="none" cap="none" strike="noStrike">
                <a:solidFill>
                  <a:schemeClr val="dk1"/>
                </a:solidFill>
                <a:latin typeface="Times New Roman"/>
                <a:ea typeface="Times New Roman"/>
                <a:cs typeface="Times New Roman"/>
                <a:sym typeface="Times New Roman"/>
              </a:rPr>
              <a:t>In applying PageRank to a social media graph, which ensure convergence? (Select all that apply)</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A damping factor less than 1</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A strongly connected graph</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Handling dangling nodes</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Uniform initial scores</a:t>
            </a:r>
            <a:endParaRPr b="0" i="0" sz="1600" u="none" cap="none" strike="noStrike">
              <a:solidFill>
                <a:schemeClr val="dk1"/>
              </a:solidFill>
              <a:latin typeface="Times New Roman"/>
              <a:ea typeface="Times New Roman"/>
              <a:cs typeface="Times New Roman"/>
              <a:sym typeface="Times New Roman"/>
            </a:endParaRPr>
          </a:p>
        </p:txBody>
      </p:sp>
      <p:grpSp>
        <p:nvGrpSpPr>
          <p:cNvPr id="521" name="Google Shape;521;p59"/>
          <p:cNvGrpSpPr/>
          <p:nvPr/>
        </p:nvGrpSpPr>
        <p:grpSpPr>
          <a:xfrm>
            <a:off x="505007" y="1918055"/>
            <a:ext cx="8420180" cy="2817154"/>
            <a:chOff x="505007" y="1918055"/>
            <a:chExt cx="8420180" cy="2817154"/>
          </a:xfrm>
        </p:grpSpPr>
        <p:pic>
          <p:nvPicPr>
            <p:cNvPr id="522" name="Google Shape;522;p59"/>
            <p:cNvPicPr preferRelativeResize="0"/>
            <p:nvPr/>
          </p:nvPicPr>
          <p:blipFill rotWithShape="1">
            <a:blip r:embed="rId3">
              <a:alphaModFix/>
            </a:blip>
            <a:srcRect b="69453" l="0" r="68732" t="0"/>
            <a:stretch/>
          </p:blipFill>
          <p:spPr>
            <a:xfrm>
              <a:off x="505007" y="2383964"/>
              <a:ext cx="2073814" cy="1571197"/>
            </a:xfrm>
            <a:prstGeom prst="rect">
              <a:avLst/>
            </a:prstGeom>
            <a:noFill/>
            <a:ln>
              <a:noFill/>
            </a:ln>
          </p:spPr>
        </p:pic>
        <p:pic>
          <p:nvPicPr>
            <p:cNvPr id="523" name="Google Shape;523;p59"/>
            <p:cNvPicPr preferRelativeResize="0"/>
            <p:nvPr/>
          </p:nvPicPr>
          <p:blipFill rotWithShape="1">
            <a:blip r:embed="rId3">
              <a:alphaModFix/>
            </a:blip>
            <a:srcRect b="0" l="0" r="0" t="38507"/>
            <a:stretch/>
          </p:blipFill>
          <p:spPr>
            <a:xfrm>
              <a:off x="3017815" y="1918055"/>
              <a:ext cx="5907372" cy="281715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000"/>
                                        <p:tgtEl>
                                          <p:spTgt spid="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par>
                                <p:cTn fill="hold" nodeType="with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1000"/>
                                        <p:tgtEl>
                                          <p:spTgt spid="5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0"/>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23</a:t>
            </a:r>
            <a:endParaRPr b="1" i="0" sz="1800" u="none" cap="none" strike="noStrike">
              <a:solidFill>
                <a:schemeClr val="lt1"/>
              </a:solidFill>
              <a:latin typeface="Times New Roman"/>
              <a:ea typeface="Times New Roman"/>
              <a:cs typeface="Times New Roman"/>
              <a:sym typeface="Times New Roman"/>
            </a:endParaRPr>
          </a:p>
        </p:txBody>
      </p:sp>
      <p:sp>
        <p:nvSpPr>
          <p:cNvPr id="530" name="Google Shape;530;p60"/>
          <p:cNvSpPr txBox="1"/>
          <p:nvPr/>
        </p:nvSpPr>
        <p:spPr>
          <a:xfrm>
            <a:off x="4069198" y="1872323"/>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10</a:t>
            </a:r>
            <a:endParaRPr b="1" i="0" sz="1800" u="none" cap="none" strike="noStrike">
              <a:solidFill>
                <a:schemeClr val="lt1"/>
              </a:solidFill>
              <a:latin typeface="Times New Roman"/>
              <a:ea typeface="Times New Roman"/>
              <a:cs typeface="Times New Roman"/>
              <a:sym typeface="Times New Roman"/>
            </a:endParaRPr>
          </a:p>
        </p:txBody>
      </p:sp>
      <p:sp>
        <p:nvSpPr>
          <p:cNvPr id="531" name="Google Shape;531;p60"/>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23</a:t>
            </a:r>
            <a:endParaRPr b="1" i="0" sz="1800" u="none" cap="none" strike="noStrike">
              <a:solidFill>
                <a:schemeClr val="lt1"/>
              </a:solidFill>
              <a:latin typeface="Times New Roman"/>
              <a:ea typeface="Times New Roman"/>
              <a:cs typeface="Times New Roman"/>
              <a:sym typeface="Times New Roman"/>
            </a:endParaRPr>
          </a:p>
        </p:txBody>
      </p:sp>
      <p:sp>
        <p:nvSpPr>
          <p:cNvPr id="532" name="Google Shape;532;p60"/>
          <p:cNvSpPr txBox="1"/>
          <p:nvPr/>
        </p:nvSpPr>
        <p:spPr>
          <a:xfrm>
            <a:off x="3127729" y="4771822"/>
            <a:ext cx="12276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 b), c)</a:t>
            </a:r>
            <a:endParaRPr b="1" i="0" sz="1800" u="none" cap="none" strike="noStrike">
              <a:solidFill>
                <a:schemeClr val="lt1"/>
              </a:solidFill>
              <a:latin typeface="Times New Roman"/>
              <a:ea typeface="Times New Roman"/>
              <a:cs typeface="Times New Roman"/>
              <a:sym typeface="Times New Roman"/>
            </a:endParaRPr>
          </a:p>
        </p:txBody>
      </p:sp>
      <p:cxnSp>
        <p:nvCxnSpPr>
          <p:cNvPr id="533" name="Google Shape;533;p60"/>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34" name="Google Shape;534;p60"/>
          <p:cNvSpPr txBox="1"/>
          <p:nvPr/>
        </p:nvSpPr>
        <p:spPr>
          <a:xfrm>
            <a:off x="46382" y="501338"/>
            <a:ext cx="8349600" cy="135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Which matrix properties are critical for PageRank convergence? (Select all that apply)</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A) Stochasticity</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B) Irreducibility</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C) Aperiodicity</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D) Symmetry</a:t>
            </a:r>
            <a:r>
              <a:rPr b="0" i="0" lang="en-US" sz="1800" u="none" cap="none" strike="noStrike">
                <a:solidFill>
                  <a:schemeClr val="dk1"/>
                </a:solidFill>
                <a:latin typeface="Times New Roman"/>
                <a:ea typeface="Times New Roman"/>
                <a:cs typeface="Times New Roman"/>
                <a:sym typeface="Times New Roman"/>
              </a:rPr>
              <a:t>.</a:t>
            </a:r>
            <a:endParaRPr/>
          </a:p>
        </p:txBody>
      </p:sp>
      <p:grpSp>
        <p:nvGrpSpPr>
          <p:cNvPr id="535" name="Google Shape;535;p60"/>
          <p:cNvGrpSpPr/>
          <p:nvPr/>
        </p:nvGrpSpPr>
        <p:grpSpPr>
          <a:xfrm>
            <a:off x="153903" y="2372244"/>
            <a:ext cx="8829568" cy="2064800"/>
            <a:chOff x="153903" y="2372244"/>
            <a:chExt cx="8829568" cy="2064800"/>
          </a:xfrm>
        </p:grpSpPr>
        <p:pic>
          <p:nvPicPr>
            <p:cNvPr id="536" name="Google Shape;536;p60"/>
            <p:cNvPicPr preferRelativeResize="0"/>
            <p:nvPr/>
          </p:nvPicPr>
          <p:blipFill rotWithShape="1">
            <a:blip r:embed="rId3">
              <a:alphaModFix/>
            </a:blip>
            <a:srcRect b="0" l="0" r="0" t="49352"/>
            <a:stretch/>
          </p:blipFill>
          <p:spPr>
            <a:xfrm>
              <a:off x="2023871" y="2372244"/>
              <a:ext cx="6959600" cy="2064800"/>
            </a:xfrm>
            <a:prstGeom prst="rect">
              <a:avLst/>
            </a:prstGeom>
            <a:noFill/>
            <a:ln>
              <a:noFill/>
            </a:ln>
          </p:spPr>
        </p:pic>
        <p:pic>
          <p:nvPicPr>
            <p:cNvPr id="537" name="Google Shape;537;p60"/>
            <p:cNvPicPr preferRelativeResize="0"/>
            <p:nvPr/>
          </p:nvPicPr>
          <p:blipFill rotWithShape="1">
            <a:blip r:embed="rId3">
              <a:alphaModFix/>
            </a:blip>
            <a:srcRect b="54388" l="0" r="76982" t="0"/>
            <a:stretch/>
          </p:blipFill>
          <p:spPr>
            <a:xfrm>
              <a:off x="153903" y="2474894"/>
              <a:ext cx="1602010" cy="18595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000"/>
                                        <p:tgtEl>
                                          <p:spTgt spid="5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1000"/>
                                        <p:tgtEl>
                                          <p:spTgt spid="5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1000"/>
                                        <p:tgtEl>
                                          <p:spTgt spid="532"/>
                                        </p:tgtEl>
                                      </p:cBhvr>
                                    </p:animEffect>
                                  </p:childTnLst>
                                </p:cTn>
                              </p:par>
                              <p:par>
                                <p:cTn fill="hold" nodeType="with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1000"/>
                                        <p:tgtEl>
                                          <p:spTgt spid="533"/>
                                        </p:tgtEl>
                                      </p:cBhvr>
                                    </p:animEffect>
                                  </p:childTnLst>
                                </p:cTn>
                              </p:par>
                              <p:par>
                                <p:cTn fill="hold" nodeType="with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1000"/>
                                        <p:tgtEl>
                                          <p:spTgt spid="5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1"/>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24</a:t>
            </a:r>
            <a:endParaRPr b="1" i="0" sz="1800" u="none" cap="none" strike="noStrike">
              <a:solidFill>
                <a:schemeClr val="lt1"/>
              </a:solidFill>
              <a:latin typeface="Times New Roman"/>
              <a:ea typeface="Times New Roman"/>
              <a:cs typeface="Times New Roman"/>
              <a:sym typeface="Times New Roman"/>
            </a:endParaRPr>
          </a:p>
        </p:txBody>
      </p:sp>
      <p:sp>
        <p:nvSpPr>
          <p:cNvPr id="544" name="Google Shape;544;p61"/>
          <p:cNvSpPr txBox="1"/>
          <p:nvPr/>
        </p:nvSpPr>
        <p:spPr>
          <a:xfrm>
            <a:off x="4572000" y="151526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24</a:t>
            </a:r>
            <a:endParaRPr b="1" i="0" sz="1800" u="none" cap="none" strike="noStrike">
              <a:solidFill>
                <a:schemeClr val="lt1"/>
              </a:solidFill>
              <a:latin typeface="Times New Roman"/>
              <a:ea typeface="Times New Roman"/>
              <a:cs typeface="Times New Roman"/>
              <a:sym typeface="Times New Roman"/>
            </a:endParaRPr>
          </a:p>
        </p:txBody>
      </p:sp>
      <p:sp>
        <p:nvSpPr>
          <p:cNvPr id="545" name="Google Shape;545;p61"/>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24</a:t>
            </a:r>
            <a:endParaRPr b="1" i="0" sz="1800" u="none" cap="none" strike="noStrike">
              <a:solidFill>
                <a:schemeClr val="lt1"/>
              </a:solidFill>
              <a:latin typeface="Times New Roman"/>
              <a:ea typeface="Times New Roman"/>
              <a:cs typeface="Times New Roman"/>
              <a:sym typeface="Times New Roman"/>
            </a:endParaRPr>
          </a:p>
        </p:txBody>
      </p:sp>
      <p:sp>
        <p:nvSpPr>
          <p:cNvPr id="546" name="Google Shape;546;p61"/>
          <p:cNvSpPr txBox="1"/>
          <p:nvPr/>
        </p:nvSpPr>
        <p:spPr>
          <a:xfrm>
            <a:off x="3127729" y="4771822"/>
            <a:ext cx="11328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547" name="Google Shape;547;p61"/>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48" name="Google Shape;548;p61"/>
          <p:cNvSpPr txBox="1"/>
          <p:nvPr/>
        </p:nvSpPr>
        <p:spPr>
          <a:xfrm>
            <a:off x="42643" y="432561"/>
            <a:ext cx="86070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Why does repeated matrix multiplication converge in PageRank?</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 matrix is symmetric</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 spectral radius is less than 1</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 matrix is stochastic and irreducible</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The matrix is diagonal.</a:t>
            </a:r>
            <a:endParaRPr/>
          </a:p>
        </p:txBody>
      </p:sp>
      <p:pic>
        <p:nvPicPr>
          <p:cNvPr id="549" name="Google Shape;549;p61"/>
          <p:cNvPicPr preferRelativeResize="0"/>
          <p:nvPr/>
        </p:nvPicPr>
        <p:blipFill rotWithShape="1">
          <a:blip r:embed="rId3">
            <a:alphaModFix/>
          </a:blip>
          <a:srcRect b="0" l="0" r="0" t="0"/>
          <a:stretch/>
        </p:blipFill>
        <p:spPr>
          <a:xfrm>
            <a:off x="1267997" y="2015540"/>
            <a:ext cx="7772399" cy="26279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1000"/>
                                        <p:tgtEl>
                                          <p:spTgt spid="5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1000"/>
                                        <p:tgtEl>
                                          <p:spTgt spid="546"/>
                                        </p:tgtEl>
                                      </p:cBhvr>
                                    </p:animEffect>
                                  </p:childTnLst>
                                </p:cTn>
                              </p:par>
                              <p:par>
                                <p:cTn fill="hold" nodeType="with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1000"/>
                                        <p:tgtEl>
                                          <p:spTgt spid="5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2"/>
          <p:cNvSpPr txBox="1"/>
          <p:nvPr/>
        </p:nvSpPr>
        <p:spPr>
          <a:xfrm>
            <a:off x="0" y="28778"/>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25</a:t>
            </a:r>
            <a:endParaRPr b="1" i="0" sz="1800" u="none" cap="none" strike="noStrike">
              <a:solidFill>
                <a:schemeClr val="lt1"/>
              </a:solidFill>
              <a:latin typeface="Times New Roman"/>
              <a:ea typeface="Times New Roman"/>
              <a:cs typeface="Times New Roman"/>
              <a:sym typeface="Times New Roman"/>
            </a:endParaRPr>
          </a:p>
        </p:txBody>
      </p:sp>
      <p:sp>
        <p:nvSpPr>
          <p:cNvPr id="556" name="Google Shape;556;p62"/>
          <p:cNvSpPr txBox="1"/>
          <p:nvPr/>
        </p:nvSpPr>
        <p:spPr>
          <a:xfrm>
            <a:off x="37253" y="230489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25</a:t>
            </a:r>
            <a:endParaRPr b="1" i="0" sz="1800" u="none" cap="none" strike="noStrike">
              <a:solidFill>
                <a:schemeClr val="lt1"/>
              </a:solidFill>
              <a:latin typeface="Times New Roman"/>
              <a:ea typeface="Times New Roman"/>
              <a:cs typeface="Times New Roman"/>
              <a:sym typeface="Times New Roman"/>
            </a:endParaRPr>
          </a:p>
        </p:txBody>
      </p:sp>
      <p:sp>
        <p:nvSpPr>
          <p:cNvPr id="557" name="Google Shape;557;p62"/>
          <p:cNvSpPr txBox="1"/>
          <p:nvPr/>
        </p:nvSpPr>
        <p:spPr>
          <a:xfrm>
            <a:off x="0" y="4829324"/>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25</a:t>
            </a:r>
            <a:endParaRPr b="1" i="0" sz="1800" u="none" cap="none" strike="noStrike">
              <a:solidFill>
                <a:schemeClr val="lt1"/>
              </a:solidFill>
              <a:latin typeface="Times New Roman"/>
              <a:ea typeface="Times New Roman"/>
              <a:cs typeface="Times New Roman"/>
              <a:sym typeface="Times New Roman"/>
            </a:endParaRPr>
          </a:p>
        </p:txBody>
      </p:sp>
      <p:sp>
        <p:nvSpPr>
          <p:cNvPr id="558" name="Google Shape;558;p62"/>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559" name="Google Shape;559;p62"/>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60" name="Google Shape;560;p62"/>
          <p:cNvSpPr txBox="1"/>
          <p:nvPr/>
        </p:nvSpPr>
        <p:spPr>
          <a:xfrm>
            <a:off x="37253" y="353503"/>
            <a:ext cx="91068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What kind of network structure is most likely forming as Reema’s blog gains more backlinks?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 symmetric tree where each node has similar number of links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 centralized star where one node controls all connections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 network with a few blogs having lots of links, most with very few</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A chain where each blog links only to the next in time</a:t>
            </a:r>
            <a:endParaRPr b="0" i="0" sz="1800" u="none" cap="none" strike="noStrike">
              <a:solidFill>
                <a:schemeClr val="dk1"/>
              </a:solidFill>
              <a:latin typeface="Times New Roman"/>
              <a:ea typeface="Times New Roman"/>
              <a:cs typeface="Times New Roman"/>
              <a:sym typeface="Times New Roman"/>
            </a:endParaRPr>
          </a:p>
        </p:txBody>
      </p:sp>
      <p:pic>
        <p:nvPicPr>
          <p:cNvPr id="561" name="Google Shape;561;p62"/>
          <p:cNvPicPr preferRelativeResize="0"/>
          <p:nvPr/>
        </p:nvPicPr>
        <p:blipFill rotWithShape="1">
          <a:blip r:embed="rId3">
            <a:alphaModFix/>
          </a:blip>
          <a:srcRect b="0" l="0" r="0" t="0"/>
          <a:stretch/>
        </p:blipFill>
        <p:spPr>
          <a:xfrm>
            <a:off x="37253" y="2838603"/>
            <a:ext cx="6832600" cy="1358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1000"/>
                                        <p:tgtEl>
                                          <p:spTgt spid="5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1000"/>
                                        <p:tgtEl>
                                          <p:spTgt spid="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1000"/>
                                        <p:tgtEl>
                                          <p:spTgt spid="558"/>
                                        </p:tgtEl>
                                      </p:cBhvr>
                                    </p:animEffect>
                                  </p:childTnLst>
                                </p:cTn>
                              </p:par>
                              <p:par>
                                <p:cTn fill="hold" nodeType="with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par>
                                <p:cTn fill="hold" nodeType="with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1000"/>
                                        <p:tgtEl>
                                          <p:spTgt spid="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3"/>
          <p:cNvSpPr txBox="1"/>
          <p:nvPr/>
        </p:nvSpPr>
        <p:spPr>
          <a:xfrm>
            <a:off x="0" y="1919"/>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26</a:t>
            </a:r>
            <a:endParaRPr b="1" i="0" sz="1800" u="none" cap="none" strike="noStrike">
              <a:solidFill>
                <a:schemeClr val="lt1"/>
              </a:solidFill>
              <a:latin typeface="Times New Roman"/>
              <a:ea typeface="Times New Roman"/>
              <a:cs typeface="Times New Roman"/>
              <a:sym typeface="Times New Roman"/>
            </a:endParaRPr>
          </a:p>
        </p:txBody>
      </p:sp>
      <p:sp>
        <p:nvSpPr>
          <p:cNvPr id="568" name="Google Shape;568;p63"/>
          <p:cNvSpPr txBox="1"/>
          <p:nvPr/>
        </p:nvSpPr>
        <p:spPr>
          <a:xfrm>
            <a:off x="9525" y="222550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26</a:t>
            </a:r>
            <a:endParaRPr b="1" i="0" sz="1800" u="none" cap="none" strike="noStrike">
              <a:solidFill>
                <a:schemeClr val="lt1"/>
              </a:solidFill>
              <a:latin typeface="Times New Roman"/>
              <a:ea typeface="Times New Roman"/>
              <a:cs typeface="Times New Roman"/>
              <a:sym typeface="Times New Roman"/>
            </a:endParaRPr>
          </a:p>
        </p:txBody>
      </p:sp>
      <p:sp>
        <p:nvSpPr>
          <p:cNvPr id="569" name="Google Shape;569;p63"/>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26</a:t>
            </a:r>
            <a:endParaRPr b="1" i="0" sz="1800" u="none" cap="none" strike="noStrike">
              <a:solidFill>
                <a:schemeClr val="lt1"/>
              </a:solidFill>
              <a:latin typeface="Times New Roman"/>
              <a:ea typeface="Times New Roman"/>
              <a:cs typeface="Times New Roman"/>
              <a:sym typeface="Times New Roman"/>
            </a:endParaRPr>
          </a:p>
        </p:txBody>
      </p:sp>
      <p:sp>
        <p:nvSpPr>
          <p:cNvPr id="570" name="Google Shape;570;p63"/>
          <p:cNvSpPr txBox="1"/>
          <p:nvPr/>
        </p:nvSpPr>
        <p:spPr>
          <a:xfrm>
            <a:off x="3017816" y="4763840"/>
            <a:ext cx="995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571" name="Google Shape;571;p63"/>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572" name="Google Shape;572;p63"/>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573" name="Google Shape;573;p63"/>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574" name="Google Shape;574;p63"/>
          <p:cNvPicPr preferRelativeResize="0"/>
          <p:nvPr/>
        </p:nvPicPr>
        <p:blipFill rotWithShape="1">
          <a:blip r:embed="rId3">
            <a:alphaModFix/>
          </a:blip>
          <a:srcRect b="0" l="0" r="0" t="0"/>
          <a:stretch/>
        </p:blipFill>
        <p:spPr>
          <a:xfrm>
            <a:off x="0" y="0"/>
            <a:ext cx="9525" cy="9525"/>
          </a:xfrm>
          <a:prstGeom prst="rect">
            <a:avLst/>
          </a:prstGeom>
          <a:noFill/>
          <a:ln>
            <a:noFill/>
          </a:ln>
        </p:spPr>
      </p:pic>
      <p:sp>
        <p:nvSpPr>
          <p:cNvPr id="575" name="Google Shape;575;p63"/>
          <p:cNvSpPr txBox="1"/>
          <p:nvPr/>
        </p:nvSpPr>
        <p:spPr>
          <a:xfrm>
            <a:off x="75108" y="408598"/>
            <a:ext cx="8993700" cy="1754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 If we model the growth of Friendbook using the Barabási–Albert model, what feature must be present in the network?</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Equal probability of linking to any user</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Preferential attachment to higher degree nodes</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Random triadic closure</a:t>
            </a:r>
            <a:endParaRPr/>
          </a:p>
          <a:p>
            <a:pPr indent="-342900" lvl="0" marL="342900" marR="0" rtl="0" algn="just">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Negative ties</a:t>
            </a:r>
            <a:endParaRPr/>
          </a:p>
        </p:txBody>
      </p:sp>
      <p:pic>
        <p:nvPicPr>
          <p:cNvPr id="576" name="Google Shape;576;p63"/>
          <p:cNvPicPr preferRelativeResize="0"/>
          <p:nvPr/>
        </p:nvPicPr>
        <p:blipFill rotWithShape="1">
          <a:blip r:embed="rId4">
            <a:alphaModFix/>
          </a:blip>
          <a:srcRect b="0" l="0" r="0" t="7817"/>
          <a:stretch/>
        </p:blipFill>
        <p:spPr>
          <a:xfrm>
            <a:off x="127450" y="2884188"/>
            <a:ext cx="7772400" cy="106784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1000"/>
                                        <p:tgtEl>
                                          <p:spTgt spid="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1000"/>
                                        <p:tgtEl>
                                          <p:spTgt spid="570"/>
                                        </p:tgtEl>
                                      </p:cBhvr>
                                    </p:animEffect>
                                  </p:childTnLst>
                                </p:cTn>
                              </p:par>
                              <p:par>
                                <p:cTn fill="hold" nodeType="with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1000"/>
                                        <p:tgtEl>
                                          <p:spTgt spid="571"/>
                                        </p:tgtEl>
                                      </p:cBhvr>
                                    </p:animEffect>
                                  </p:childTnLst>
                                </p:cTn>
                              </p:par>
                              <p:par>
                                <p:cTn fill="hold" nodeType="with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1000"/>
                                        <p:tgtEl>
                                          <p:spTgt spid="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4"/>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27</a:t>
            </a:r>
            <a:endParaRPr b="1" i="0" sz="1800" u="none" cap="none" strike="noStrike">
              <a:solidFill>
                <a:schemeClr val="lt1"/>
              </a:solidFill>
              <a:latin typeface="Times New Roman"/>
              <a:ea typeface="Times New Roman"/>
              <a:cs typeface="Times New Roman"/>
              <a:sym typeface="Times New Roman"/>
            </a:endParaRPr>
          </a:p>
        </p:txBody>
      </p:sp>
      <p:sp>
        <p:nvSpPr>
          <p:cNvPr id="583" name="Google Shape;583;p64"/>
          <p:cNvSpPr txBox="1"/>
          <p:nvPr/>
        </p:nvSpPr>
        <p:spPr>
          <a:xfrm>
            <a:off x="94825" y="203834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27</a:t>
            </a:r>
            <a:endParaRPr b="1" i="0" sz="1800" u="none" cap="none" strike="noStrike">
              <a:solidFill>
                <a:schemeClr val="lt1"/>
              </a:solidFill>
              <a:latin typeface="Times New Roman"/>
              <a:ea typeface="Times New Roman"/>
              <a:cs typeface="Times New Roman"/>
              <a:sym typeface="Times New Roman"/>
            </a:endParaRPr>
          </a:p>
        </p:txBody>
      </p:sp>
      <p:sp>
        <p:nvSpPr>
          <p:cNvPr id="584" name="Google Shape;584;p64"/>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27</a:t>
            </a:r>
            <a:endParaRPr b="1" i="0" sz="1800" u="none" cap="none" strike="noStrike">
              <a:solidFill>
                <a:schemeClr val="lt1"/>
              </a:solidFill>
              <a:latin typeface="Times New Roman"/>
              <a:ea typeface="Times New Roman"/>
              <a:cs typeface="Times New Roman"/>
              <a:sym typeface="Times New Roman"/>
            </a:endParaRPr>
          </a:p>
        </p:txBody>
      </p:sp>
      <p:sp>
        <p:nvSpPr>
          <p:cNvPr id="585" name="Google Shape;585;p64"/>
          <p:cNvSpPr txBox="1"/>
          <p:nvPr/>
        </p:nvSpPr>
        <p:spPr>
          <a:xfrm>
            <a:off x="3127729" y="4771822"/>
            <a:ext cx="848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586" name="Google Shape;586;p64"/>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87" name="Google Shape;587;p64"/>
          <p:cNvSpPr txBox="1"/>
          <p:nvPr/>
        </p:nvSpPr>
        <p:spPr>
          <a:xfrm>
            <a:off x="-2" y="483039"/>
            <a:ext cx="91440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Which removal strategy would cause the most damage to a scale-free network?</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Random removal of leaf nodes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Random node removal</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High-degree node targeting</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800" u="none" cap="none" strike="noStrike">
                <a:solidFill>
                  <a:schemeClr val="dk1"/>
                </a:solidFill>
                <a:latin typeface="Times New Roman"/>
                <a:ea typeface="Times New Roman"/>
                <a:cs typeface="Times New Roman"/>
                <a:sym typeface="Times New Roman"/>
              </a:rPr>
              <a:t>Removal based on age</a:t>
            </a:r>
            <a:endParaRPr/>
          </a:p>
        </p:txBody>
      </p:sp>
      <p:pic>
        <p:nvPicPr>
          <p:cNvPr id="588" name="Google Shape;588;p64"/>
          <p:cNvPicPr preferRelativeResize="0"/>
          <p:nvPr/>
        </p:nvPicPr>
        <p:blipFill rotWithShape="1">
          <a:blip r:embed="rId3">
            <a:alphaModFix/>
          </a:blip>
          <a:srcRect b="0" l="0" r="0" t="0"/>
          <a:stretch/>
        </p:blipFill>
        <p:spPr>
          <a:xfrm>
            <a:off x="94825" y="2791341"/>
            <a:ext cx="66294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1000"/>
                                        <p:tgtEl>
                                          <p:spTgt spid="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1000"/>
                                        <p:tgtEl>
                                          <p:spTgt spid="5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1000"/>
                                        <p:tgtEl>
                                          <p:spTgt spid="585"/>
                                        </p:tgtEl>
                                      </p:cBhvr>
                                    </p:animEffect>
                                  </p:childTnLst>
                                </p:cTn>
                              </p:par>
                              <p:par>
                                <p:cTn fill="hold" nodeType="with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1000"/>
                                        <p:tgtEl>
                                          <p:spTgt spid="586"/>
                                        </p:tgtEl>
                                      </p:cBhvr>
                                    </p:animEffect>
                                  </p:childTnLst>
                                </p:cTn>
                              </p:par>
                              <p:par>
                                <p:cTn fill="hold" nodeType="with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1000"/>
                                        <p:tgtEl>
                                          <p:spTgt spid="5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5"/>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28</a:t>
            </a:r>
            <a:endParaRPr b="1" i="0" sz="1800" u="none" cap="none" strike="noStrike">
              <a:solidFill>
                <a:schemeClr val="lt1"/>
              </a:solidFill>
              <a:latin typeface="Times New Roman"/>
              <a:ea typeface="Times New Roman"/>
              <a:cs typeface="Times New Roman"/>
              <a:sym typeface="Times New Roman"/>
            </a:endParaRPr>
          </a:p>
        </p:txBody>
      </p:sp>
      <p:sp>
        <p:nvSpPr>
          <p:cNvPr id="595" name="Google Shape;595;p65"/>
          <p:cNvSpPr txBox="1"/>
          <p:nvPr/>
        </p:nvSpPr>
        <p:spPr>
          <a:xfrm>
            <a:off x="0" y="451791"/>
            <a:ext cx="3607800" cy="2235600"/>
          </a:xfrm>
          <a:prstGeom prst="rect">
            <a:avLst/>
          </a:prstGeom>
          <a:blipFill rotWithShape="1">
            <a:blip r:embed="rId3">
              <a:alphaModFix/>
            </a:blip>
            <a:stretch>
              <a:fillRect b="-2820" l="-1750" r="0" t="-16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596" name="Google Shape;596;p65"/>
          <p:cNvSpPr txBox="1"/>
          <p:nvPr/>
        </p:nvSpPr>
        <p:spPr>
          <a:xfrm>
            <a:off x="5237922" y="259436"/>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28</a:t>
            </a:r>
            <a:endParaRPr b="1" i="0" sz="1800" u="none" cap="none" strike="noStrike">
              <a:solidFill>
                <a:schemeClr val="lt1"/>
              </a:solidFill>
              <a:latin typeface="Times New Roman"/>
              <a:ea typeface="Times New Roman"/>
              <a:cs typeface="Times New Roman"/>
              <a:sym typeface="Times New Roman"/>
            </a:endParaRPr>
          </a:p>
        </p:txBody>
      </p:sp>
      <p:sp>
        <p:nvSpPr>
          <p:cNvPr id="597" name="Google Shape;597;p65"/>
          <p:cNvSpPr txBox="1"/>
          <p:nvPr/>
        </p:nvSpPr>
        <p:spPr>
          <a:xfrm>
            <a:off x="0" y="4763847"/>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28</a:t>
            </a:r>
            <a:endParaRPr b="1" i="0" sz="1800" u="none" cap="none" strike="noStrike">
              <a:solidFill>
                <a:schemeClr val="lt1"/>
              </a:solidFill>
              <a:latin typeface="Times New Roman"/>
              <a:ea typeface="Times New Roman"/>
              <a:cs typeface="Times New Roman"/>
              <a:sym typeface="Times New Roman"/>
            </a:endParaRPr>
          </a:p>
        </p:txBody>
      </p:sp>
      <p:sp>
        <p:nvSpPr>
          <p:cNvPr id="598" name="Google Shape;598;p65"/>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599" name="Google Shape;599;p65"/>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600" name="Google Shape;600;p65"/>
          <p:cNvPicPr preferRelativeResize="0"/>
          <p:nvPr/>
        </p:nvPicPr>
        <p:blipFill rotWithShape="1">
          <a:blip r:embed="rId4">
            <a:alphaModFix/>
          </a:blip>
          <a:srcRect b="0" l="1022" r="8571" t="72608"/>
          <a:stretch/>
        </p:blipFill>
        <p:spPr>
          <a:xfrm>
            <a:off x="2907904" y="3327215"/>
            <a:ext cx="6146643" cy="1187496"/>
          </a:xfrm>
          <a:prstGeom prst="rect">
            <a:avLst/>
          </a:prstGeom>
          <a:noFill/>
          <a:ln>
            <a:noFill/>
          </a:ln>
        </p:spPr>
      </p:pic>
      <p:pic>
        <p:nvPicPr>
          <p:cNvPr id="601" name="Google Shape;601;p65"/>
          <p:cNvPicPr preferRelativeResize="0"/>
          <p:nvPr/>
        </p:nvPicPr>
        <p:blipFill rotWithShape="1">
          <a:blip r:embed="rId4">
            <a:alphaModFix/>
          </a:blip>
          <a:srcRect b="92961" l="0" r="33928" t="53"/>
          <a:stretch/>
        </p:blipFill>
        <p:spPr>
          <a:xfrm>
            <a:off x="3919330" y="601449"/>
            <a:ext cx="5135218" cy="346250"/>
          </a:xfrm>
          <a:prstGeom prst="rect">
            <a:avLst/>
          </a:prstGeom>
          <a:noFill/>
          <a:ln>
            <a:noFill/>
          </a:ln>
        </p:spPr>
      </p:pic>
      <p:pic>
        <p:nvPicPr>
          <p:cNvPr id="602" name="Google Shape;602;p65"/>
          <p:cNvPicPr preferRelativeResize="0"/>
          <p:nvPr/>
        </p:nvPicPr>
        <p:blipFill rotWithShape="1">
          <a:blip r:embed="rId4">
            <a:alphaModFix/>
          </a:blip>
          <a:srcRect b="27954" l="0" r="1961" t="10985"/>
          <a:stretch/>
        </p:blipFill>
        <p:spPr>
          <a:xfrm>
            <a:off x="3566733" y="995507"/>
            <a:ext cx="5487815" cy="217946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1000"/>
                                        <p:tgtEl>
                                          <p:spTgt spid="5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000"/>
                                        <p:tgtEl>
                                          <p:spTgt spid="602"/>
                                        </p:tgtEl>
                                      </p:cBhvr>
                                    </p:animEffect>
                                  </p:childTnLst>
                                </p:cTn>
                              </p:par>
                              <p:par>
                                <p:cTn fill="hold" nodeType="with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1000"/>
                                        <p:tgtEl>
                                          <p:spTgt spid="6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1000"/>
                                        <p:tgtEl>
                                          <p:spTgt spid="598"/>
                                        </p:tgtEl>
                                      </p:cBhvr>
                                    </p:animEffect>
                                  </p:childTnLst>
                                </p:cTn>
                              </p:par>
                              <p:par>
                                <p:cTn fill="hold" nodeType="with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1000"/>
                                        <p:tgtEl>
                                          <p:spTgt spid="599"/>
                                        </p:tgtEl>
                                      </p:cBhvr>
                                    </p:animEffect>
                                  </p:childTnLst>
                                </p:cTn>
                              </p:par>
                              <p:par>
                                <p:cTn fill="hold" nodeType="with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1000"/>
                                        <p:tgtEl>
                                          <p:spTgt spid="5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66"/>
          <p:cNvSpPr txBox="1"/>
          <p:nvPr/>
        </p:nvSpPr>
        <p:spPr>
          <a:xfrm>
            <a:off x="0" y="36139"/>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2</a:t>
            </a:r>
            <a:r>
              <a:rPr b="1" lang="en-US" sz="1800">
                <a:solidFill>
                  <a:schemeClr val="lt1"/>
                </a:solidFill>
                <a:latin typeface="Times New Roman"/>
                <a:ea typeface="Times New Roman"/>
                <a:cs typeface="Times New Roman"/>
                <a:sym typeface="Times New Roman"/>
              </a:rPr>
              <a:t>9</a:t>
            </a:r>
            <a:endParaRPr b="1" i="0" sz="1800" u="none" cap="none" strike="noStrike">
              <a:solidFill>
                <a:schemeClr val="lt1"/>
              </a:solidFill>
              <a:latin typeface="Times New Roman"/>
              <a:ea typeface="Times New Roman"/>
              <a:cs typeface="Times New Roman"/>
              <a:sym typeface="Times New Roman"/>
            </a:endParaRPr>
          </a:p>
        </p:txBody>
      </p:sp>
      <p:sp>
        <p:nvSpPr>
          <p:cNvPr id="609" name="Google Shape;609;p66"/>
          <p:cNvSpPr txBox="1"/>
          <p:nvPr/>
        </p:nvSpPr>
        <p:spPr>
          <a:xfrm>
            <a:off x="75108" y="1846353"/>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29</a:t>
            </a:r>
            <a:endParaRPr b="1" i="0" sz="1800" u="none" cap="none" strike="noStrike">
              <a:solidFill>
                <a:schemeClr val="lt1"/>
              </a:solidFill>
              <a:latin typeface="Times New Roman"/>
              <a:ea typeface="Times New Roman"/>
              <a:cs typeface="Times New Roman"/>
              <a:sym typeface="Times New Roman"/>
            </a:endParaRPr>
          </a:p>
        </p:txBody>
      </p:sp>
      <p:sp>
        <p:nvSpPr>
          <p:cNvPr id="610" name="Google Shape;610;p66"/>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29</a:t>
            </a:r>
            <a:endParaRPr b="1" i="0" sz="1800" u="none" cap="none" strike="noStrike">
              <a:solidFill>
                <a:schemeClr val="lt1"/>
              </a:solidFill>
              <a:latin typeface="Times New Roman"/>
              <a:ea typeface="Times New Roman"/>
              <a:cs typeface="Times New Roman"/>
              <a:sym typeface="Times New Roman"/>
            </a:endParaRPr>
          </a:p>
        </p:txBody>
      </p:sp>
      <p:sp>
        <p:nvSpPr>
          <p:cNvPr id="611" name="Google Shape;611;p66"/>
          <p:cNvSpPr txBox="1"/>
          <p:nvPr/>
        </p:nvSpPr>
        <p:spPr>
          <a:xfrm>
            <a:off x="3017816" y="4763840"/>
            <a:ext cx="995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 b), c)</a:t>
            </a:r>
            <a:endParaRPr b="1" i="0" sz="1800" u="none" cap="none" strike="noStrike">
              <a:solidFill>
                <a:schemeClr val="lt1"/>
              </a:solidFill>
              <a:latin typeface="Times New Roman"/>
              <a:ea typeface="Times New Roman"/>
              <a:cs typeface="Times New Roman"/>
              <a:sym typeface="Times New Roman"/>
            </a:endParaRPr>
          </a:p>
        </p:txBody>
      </p:sp>
      <p:cxnSp>
        <p:nvCxnSpPr>
          <p:cNvPr id="612" name="Google Shape;612;p66"/>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613" name="Google Shape;613;p66"/>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614" name="Google Shape;614;p66"/>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615" name="Google Shape;615;p66"/>
          <p:cNvPicPr preferRelativeResize="0"/>
          <p:nvPr/>
        </p:nvPicPr>
        <p:blipFill rotWithShape="1">
          <a:blip r:embed="rId3">
            <a:alphaModFix/>
          </a:blip>
          <a:srcRect b="0" l="0" r="0" t="0"/>
          <a:stretch/>
        </p:blipFill>
        <p:spPr>
          <a:xfrm>
            <a:off x="0" y="0"/>
            <a:ext cx="9525" cy="9525"/>
          </a:xfrm>
          <a:prstGeom prst="rect">
            <a:avLst/>
          </a:prstGeom>
          <a:noFill/>
          <a:ln>
            <a:noFill/>
          </a:ln>
        </p:spPr>
      </p:pic>
      <p:sp>
        <p:nvSpPr>
          <p:cNvPr id="616" name="Google Shape;616;p66"/>
          <p:cNvSpPr txBox="1"/>
          <p:nvPr/>
        </p:nvSpPr>
        <p:spPr>
          <a:xfrm>
            <a:off x="75108" y="382388"/>
            <a:ext cx="8993700" cy="1416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600" u="none" cap="none" strike="noStrike">
                <a:solidFill>
                  <a:schemeClr val="dk1"/>
                </a:solidFill>
                <a:latin typeface="Times New Roman"/>
                <a:ea typeface="Times New Roman"/>
                <a:cs typeface="Times New Roman"/>
                <a:sym typeface="Times New Roman"/>
              </a:rPr>
              <a:t>  </a:t>
            </a:r>
            <a:r>
              <a:rPr b="0" i="0" lang="en-US" sz="1400" u="none" cap="none" strike="noStrike">
                <a:solidFill>
                  <a:schemeClr val="dk1"/>
                </a:solidFill>
                <a:latin typeface="Times New Roman"/>
                <a:ea typeface="Times New Roman"/>
                <a:cs typeface="Times New Roman"/>
                <a:sym typeface="Times New Roman"/>
              </a:rPr>
              <a:t>In the context of a simple branching process model, which statements are true? (Select all that apply.)</a:t>
            </a:r>
            <a:endParaRPr/>
          </a:p>
          <a:p>
            <a:pPr indent="-342900" lvl="0" marL="342900" marR="0" rtl="0" algn="just">
              <a:lnSpc>
                <a:spcPct val="100000"/>
              </a:lnSpc>
              <a:spcBef>
                <a:spcPts val="0"/>
              </a:spcBef>
              <a:spcAft>
                <a:spcPts val="0"/>
              </a:spcAft>
              <a:buClr>
                <a:srgbClr val="000000"/>
              </a:buClr>
              <a:buSzPts val="14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If the mean number of new infections per person is less than 1, the outbreak will almost surely die out.</a:t>
            </a:r>
            <a:endParaRPr/>
          </a:p>
          <a:p>
            <a:pPr indent="-342900" lvl="0" marL="342900" marR="0" rtl="0" algn="just">
              <a:lnSpc>
                <a:spcPct val="100000"/>
              </a:lnSpc>
              <a:spcBef>
                <a:spcPts val="0"/>
              </a:spcBef>
              <a:spcAft>
                <a:spcPts val="0"/>
              </a:spcAft>
              <a:buClr>
                <a:srgbClr val="000000"/>
              </a:buClr>
              <a:buSzPts val="14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If the mean is greater than 1, there is a nonzero probability of a large epidemic (extinction probability &lt; 1).</a:t>
            </a:r>
            <a:endParaRPr/>
          </a:p>
          <a:p>
            <a:pPr indent="-342900" lvl="0" marL="342900" marR="0" rtl="0" algn="just">
              <a:lnSpc>
                <a:spcPct val="100000"/>
              </a:lnSpc>
              <a:spcBef>
                <a:spcPts val="0"/>
              </a:spcBef>
              <a:spcAft>
                <a:spcPts val="0"/>
              </a:spcAft>
              <a:buClr>
                <a:srgbClr val="000000"/>
              </a:buClr>
              <a:buSzPts val="14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This model assumes an effectively infinite population of susceptibles, so each infection’s offspring distribution is independent of population size.</a:t>
            </a:r>
            <a:endParaRPr/>
          </a:p>
          <a:p>
            <a:pPr indent="-342900" lvl="0" marL="342900" marR="0" rtl="0" algn="just">
              <a:lnSpc>
                <a:spcPct val="100000"/>
              </a:lnSpc>
              <a:spcBef>
                <a:spcPts val="0"/>
              </a:spcBef>
              <a:spcAft>
                <a:spcPts val="0"/>
              </a:spcAft>
              <a:buClr>
                <a:srgbClr val="000000"/>
              </a:buClr>
              <a:buSzPts val="14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It explicitly includes a recovered or immune class of individuals.</a:t>
            </a:r>
            <a:endParaRPr/>
          </a:p>
        </p:txBody>
      </p:sp>
      <p:pic>
        <p:nvPicPr>
          <p:cNvPr id="617" name="Google Shape;617;p66"/>
          <p:cNvPicPr preferRelativeResize="0"/>
          <p:nvPr/>
        </p:nvPicPr>
        <p:blipFill rotWithShape="1">
          <a:blip r:embed="rId4">
            <a:alphaModFix/>
          </a:blip>
          <a:srcRect b="0" l="0" r="0" t="0"/>
          <a:stretch/>
        </p:blipFill>
        <p:spPr>
          <a:xfrm>
            <a:off x="75109" y="2205640"/>
            <a:ext cx="4893402" cy="1463896"/>
          </a:xfrm>
          <a:prstGeom prst="rect">
            <a:avLst/>
          </a:prstGeom>
          <a:noFill/>
          <a:ln>
            <a:noFill/>
          </a:ln>
        </p:spPr>
      </p:pic>
      <p:pic>
        <p:nvPicPr>
          <p:cNvPr id="618" name="Google Shape;618;p66"/>
          <p:cNvPicPr preferRelativeResize="0"/>
          <p:nvPr/>
        </p:nvPicPr>
        <p:blipFill rotWithShape="1">
          <a:blip r:embed="rId5">
            <a:alphaModFix/>
          </a:blip>
          <a:srcRect b="0" l="0" r="0" t="0"/>
          <a:stretch/>
        </p:blipFill>
        <p:spPr>
          <a:xfrm>
            <a:off x="4065316" y="3345341"/>
            <a:ext cx="5003577" cy="17647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1000"/>
                                        <p:tgtEl>
                                          <p:spTgt spid="6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1000"/>
                                        <p:tgtEl>
                                          <p:spTgt spid="617"/>
                                        </p:tgtEl>
                                      </p:cBhvr>
                                    </p:animEffect>
                                  </p:childTnLst>
                                </p:cTn>
                              </p:par>
                              <p:par>
                                <p:cTn fill="hold" nodeType="with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1000"/>
                                        <p:tgtEl>
                                          <p:spTgt spid="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1000"/>
                                        <p:tgtEl>
                                          <p:spTgt spid="612"/>
                                        </p:tgtEl>
                                      </p:cBhvr>
                                    </p:animEffect>
                                  </p:childTnLst>
                                </p:cTn>
                              </p:par>
                              <p:par>
                                <p:cTn fill="hold" nodeType="with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7"/>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30</a:t>
            </a:r>
            <a:endParaRPr b="1" i="0" sz="1800" u="none" cap="none" strike="noStrike">
              <a:solidFill>
                <a:schemeClr val="lt1"/>
              </a:solidFill>
              <a:latin typeface="Times New Roman"/>
              <a:ea typeface="Times New Roman"/>
              <a:cs typeface="Times New Roman"/>
              <a:sym typeface="Times New Roman"/>
            </a:endParaRPr>
          </a:p>
        </p:txBody>
      </p:sp>
      <p:sp>
        <p:nvSpPr>
          <p:cNvPr id="625" name="Google Shape;625;p67"/>
          <p:cNvSpPr txBox="1"/>
          <p:nvPr/>
        </p:nvSpPr>
        <p:spPr>
          <a:xfrm>
            <a:off x="4292428" y="172495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15</a:t>
            </a:r>
            <a:endParaRPr b="1" i="0" sz="1800" u="none" cap="none" strike="noStrike">
              <a:solidFill>
                <a:schemeClr val="lt1"/>
              </a:solidFill>
              <a:latin typeface="Times New Roman"/>
              <a:ea typeface="Times New Roman"/>
              <a:cs typeface="Times New Roman"/>
              <a:sym typeface="Times New Roman"/>
            </a:endParaRPr>
          </a:p>
        </p:txBody>
      </p:sp>
      <p:sp>
        <p:nvSpPr>
          <p:cNvPr id="626" name="Google Shape;626;p67"/>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30</a:t>
            </a:r>
            <a:endParaRPr b="1" i="0" sz="1800" u="none" cap="none" strike="noStrike">
              <a:solidFill>
                <a:schemeClr val="lt1"/>
              </a:solidFill>
              <a:latin typeface="Times New Roman"/>
              <a:ea typeface="Times New Roman"/>
              <a:cs typeface="Times New Roman"/>
              <a:sym typeface="Times New Roman"/>
            </a:endParaRPr>
          </a:p>
        </p:txBody>
      </p:sp>
      <p:sp>
        <p:nvSpPr>
          <p:cNvPr id="627" name="Google Shape;627;p67"/>
          <p:cNvSpPr txBox="1"/>
          <p:nvPr/>
        </p:nvSpPr>
        <p:spPr>
          <a:xfrm>
            <a:off x="3127729" y="4771822"/>
            <a:ext cx="848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628" name="Google Shape;628;p67"/>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29" name="Google Shape;629;p67"/>
          <p:cNvSpPr txBox="1"/>
          <p:nvPr/>
        </p:nvSpPr>
        <p:spPr>
          <a:xfrm>
            <a:off x="42643" y="432561"/>
            <a:ext cx="86136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Which vaccination strategy generally leads to a higher epidemic (percolation) threshold on a network?</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Random vaccination of 20% of the population</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Vaccinating the 20% of individuals with the most contacts (high-degree nodes)</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Vaccinating all individuals in low-degree clusters only</a:t>
            </a:r>
            <a:endParaRPr/>
          </a:p>
          <a:p>
            <a:pPr indent="-342900" lvl="0" marL="342900" marR="0" rtl="0" algn="l">
              <a:lnSpc>
                <a:spcPct val="100000"/>
              </a:lnSpc>
              <a:spcBef>
                <a:spcPts val="0"/>
              </a:spcBef>
              <a:spcAft>
                <a:spcPts val="0"/>
              </a:spcAft>
              <a:buClr>
                <a:srgbClr val="000000"/>
              </a:buClr>
              <a:buSzPts val="16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Vaccinating only individuals who have previously been infected.</a:t>
            </a:r>
            <a:endParaRPr/>
          </a:p>
        </p:txBody>
      </p:sp>
      <p:pic>
        <p:nvPicPr>
          <p:cNvPr id="630" name="Google Shape;630;p67"/>
          <p:cNvPicPr preferRelativeResize="0"/>
          <p:nvPr/>
        </p:nvPicPr>
        <p:blipFill rotWithShape="1">
          <a:blip r:embed="rId3">
            <a:alphaModFix/>
          </a:blip>
          <a:srcRect b="0" l="0" r="0" t="12763"/>
          <a:stretch/>
        </p:blipFill>
        <p:spPr>
          <a:xfrm>
            <a:off x="3057573" y="2427186"/>
            <a:ext cx="4929808" cy="2344635"/>
          </a:xfrm>
          <a:prstGeom prst="rect">
            <a:avLst/>
          </a:prstGeom>
          <a:noFill/>
          <a:ln>
            <a:noFill/>
          </a:ln>
        </p:spPr>
      </p:pic>
      <p:pic>
        <p:nvPicPr>
          <p:cNvPr id="631" name="Google Shape;631;p67"/>
          <p:cNvPicPr preferRelativeResize="0"/>
          <p:nvPr/>
        </p:nvPicPr>
        <p:blipFill rotWithShape="1">
          <a:blip r:embed="rId3">
            <a:alphaModFix/>
          </a:blip>
          <a:srcRect b="89424" l="0" r="19225" t="1926"/>
          <a:stretch/>
        </p:blipFill>
        <p:spPr>
          <a:xfrm>
            <a:off x="2335366" y="2040151"/>
            <a:ext cx="6278218" cy="3665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1000"/>
                                        <p:tgtEl>
                                          <p:spTgt spid="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1000"/>
                                        <p:tgtEl>
                                          <p:spTgt spid="631"/>
                                        </p:tgtEl>
                                      </p:cBhvr>
                                    </p:animEffect>
                                  </p:childTnLst>
                                </p:cTn>
                              </p:par>
                              <p:par>
                                <p:cTn fill="hold" nodeType="with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1000"/>
                                        <p:tgtEl>
                                          <p:spTgt spid="627"/>
                                        </p:tgtEl>
                                      </p:cBhvr>
                                    </p:animEffect>
                                  </p:childTnLst>
                                </p:cTn>
                              </p:par>
                              <p:par>
                                <p:cTn fill="hold" nodeType="with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1000"/>
                                        <p:tgtEl>
                                          <p:spTgt spid="628"/>
                                        </p:tgtEl>
                                      </p:cBhvr>
                                    </p:animEffect>
                                  </p:childTnLst>
                                </p:cTn>
                              </p:par>
                              <p:par>
                                <p:cTn fill="hold" nodeType="with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1000"/>
                                        <p:tgtEl>
                                          <p:spTgt spid="6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8"/>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31</a:t>
            </a:r>
            <a:endParaRPr b="1" i="0" sz="1800" u="none" cap="none" strike="noStrike">
              <a:solidFill>
                <a:schemeClr val="lt1"/>
              </a:solidFill>
              <a:latin typeface="Times New Roman"/>
              <a:ea typeface="Times New Roman"/>
              <a:cs typeface="Times New Roman"/>
              <a:sym typeface="Times New Roman"/>
            </a:endParaRPr>
          </a:p>
        </p:txBody>
      </p:sp>
      <p:sp>
        <p:nvSpPr>
          <p:cNvPr id="638" name="Google Shape;638;p68"/>
          <p:cNvSpPr txBox="1"/>
          <p:nvPr/>
        </p:nvSpPr>
        <p:spPr>
          <a:xfrm>
            <a:off x="-1" y="451791"/>
            <a:ext cx="9022500" cy="1392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US" sz="1400" u="none" cap="none" strike="noStrike">
                <a:solidFill>
                  <a:schemeClr val="dk1"/>
                </a:solidFill>
                <a:latin typeface="Times New Roman"/>
                <a:ea typeface="Times New Roman"/>
                <a:cs typeface="Times New Roman"/>
                <a:sym typeface="Times New Roman"/>
              </a:rPr>
              <a:t> What phenomenon does Milgram’s experiment demonstrate in real social networks?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Scale-free degree distribution</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Short average path lengths (six degrees of separation)</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High clustering in random graphs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Decentralized random walk.</a:t>
            </a:r>
            <a:endParaRPr/>
          </a:p>
        </p:txBody>
      </p:sp>
      <p:sp>
        <p:nvSpPr>
          <p:cNvPr id="639" name="Google Shape;639;p68"/>
          <p:cNvSpPr txBox="1"/>
          <p:nvPr/>
        </p:nvSpPr>
        <p:spPr>
          <a:xfrm>
            <a:off x="-12" y="185263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31</a:t>
            </a:r>
            <a:endParaRPr b="1" i="0" sz="1800" u="none" cap="none" strike="noStrike">
              <a:solidFill>
                <a:schemeClr val="lt1"/>
              </a:solidFill>
              <a:latin typeface="Times New Roman"/>
              <a:ea typeface="Times New Roman"/>
              <a:cs typeface="Times New Roman"/>
              <a:sym typeface="Times New Roman"/>
            </a:endParaRPr>
          </a:p>
        </p:txBody>
      </p:sp>
      <p:sp>
        <p:nvSpPr>
          <p:cNvPr id="640" name="Google Shape;640;p68"/>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31</a:t>
            </a:r>
            <a:endParaRPr b="1" i="0" sz="1800" u="none" cap="none" strike="noStrike">
              <a:solidFill>
                <a:schemeClr val="lt1"/>
              </a:solidFill>
              <a:latin typeface="Times New Roman"/>
              <a:ea typeface="Times New Roman"/>
              <a:cs typeface="Times New Roman"/>
              <a:sym typeface="Times New Roman"/>
            </a:endParaRPr>
          </a:p>
        </p:txBody>
      </p:sp>
      <p:sp>
        <p:nvSpPr>
          <p:cNvPr id="641" name="Google Shape;641;p68"/>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642" name="Google Shape;642;p68"/>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643" name="Google Shape;643;p68"/>
          <p:cNvPicPr preferRelativeResize="0"/>
          <p:nvPr/>
        </p:nvPicPr>
        <p:blipFill rotWithShape="1">
          <a:blip r:embed="rId3">
            <a:alphaModFix/>
          </a:blip>
          <a:srcRect b="0" l="0" r="18540" t="60835"/>
          <a:stretch/>
        </p:blipFill>
        <p:spPr>
          <a:xfrm>
            <a:off x="4440118" y="3953178"/>
            <a:ext cx="4703881" cy="1020957"/>
          </a:xfrm>
          <a:prstGeom prst="rect">
            <a:avLst/>
          </a:prstGeom>
          <a:noFill/>
          <a:ln>
            <a:noFill/>
          </a:ln>
        </p:spPr>
      </p:pic>
      <p:pic>
        <p:nvPicPr>
          <p:cNvPr id="644" name="Google Shape;644;p68"/>
          <p:cNvPicPr preferRelativeResize="0"/>
          <p:nvPr/>
        </p:nvPicPr>
        <p:blipFill rotWithShape="1">
          <a:blip r:embed="rId3">
            <a:alphaModFix/>
          </a:blip>
          <a:srcRect b="40391" l="0" r="0" t="13721"/>
          <a:stretch/>
        </p:blipFill>
        <p:spPr>
          <a:xfrm>
            <a:off x="122580" y="2612224"/>
            <a:ext cx="6473012" cy="1340954"/>
          </a:xfrm>
          <a:prstGeom prst="rect">
            <a:avLst/>
          </a:prstGeom>
          <a:noFill/>
          <a:ln>
            <a:noFill/>
          </a:ln>
        </p:spPr>
      </p:pic>
      <p:pic>
        <p:nvPicPr>
          <p:cNvPr id="645" name="Google Shape;645;p68"/>
          <p:cNvPicPr preferRelativeResize="0"/>
          <p:nvPr/>
        </p:nvPicPr>
        <p:blipFill rotWithShape="1">
          <a:blip r:embed="rId3">
            <a:alphaModFix/>
          </a:blip>
          <a:srcRect b="88478" l="0" r="20798" t="0"/>
          <a:stretch/>
        </p:blipFill>
        <p:spPr>
          <a:xfrm>
            <a:off x="1037833" y="2206751"/>
            <a:ext cx="6155636" cy="4042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1000"/>
                                        <p:tgtEl>
                                          <p:spTgt spid="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par>
                                <p:cTn fill="hold" nodeType="with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000"/>
                                        <p:tgtEl>
                                          <p:spTgt spid="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1000"/>
                                        <p:tgtEl>
                                          <p:spTgt spid="641"/>
                                        </p:tgtEl>
                                      </p:cBhvr>
                                    </p:animEffect>
                                  </p:childTnLst>
                                </p:cTn>
                              </p:par>
                              <p:par>
                                <p:cTn fill="hold" nodeType="with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1000"/>
                                        <p:tgtEl>
                                          <p:spTgt spid="642"/>
                                        </p:tgtEl>
                                      </p:cBhvr>
                                    </p:animEffect>
                                  </p:childTnLst>
                                </p:cTn>
                              </p:par>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1000"/>
                                        <p:tgtEl>
                                          <p:spTgt spid="6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69"/>
          <p:cNvSpPr txBox="1"/>
          <p:nvPr/>
        </p:nvSpPr>
        <p:spPr>
          <a:xfrm>
            <a:off x="0" y="55491"/>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32</a:t>
            </a:r>
            <a:endParaRPr b="1" i="0" sz="1800" u="none" cap="none" strike="noStrike">
              <a:solidFill>
                <a:schemeClr val="lt1"/>
              </a:solidFill>
              <a:latin typeface="Times New Roman"/>
              <a:ea typeface="Times New Roman"/>
              <a:cs typeface="Times New Roman"/>
              <a:sym typeface="Times New Roman"/>
            </a:endParaRPr>
          </a:p>
        </p:txBody>
      </p:sp>
      <p:sp>
        <p:nvSpPr>
          <p:cNvPr id="652" name="Google Shape;652;p69"/>
          <p:cNvSpPr txBox="1"/>
          <p:nvPr/>
        </p:nvSpPr>
        <p:spPr>
          <a:xfrm>
            <a:off x="23936" y="401740"/>
            <a:ext cx="8833500" cy="167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US" sz="1600" u="none" cap="none" strike="noStrike">
                <a:solidFill>
                  <a:schemeClr val="dk1"/>
                </a:solidFill>
                <a:latin typeface="Times New Roman"/>
                <a:ea typeface="Times New Roman"/>
                <a:cs typeface="Times New Roman"/>
                <a:sym typeface="Times New Roman"/>
              </a:rPr>
              <a:t>Which model best describes a network with many hubs (a few nodes with extremely high degree, many nodes with few edges)?</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Erdős–Rényi random graph</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Watts–Strogatz small-world model</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Barabási–Albert scale-free model</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600" u="none" cap="none" strike="noStrike">
                <a:solidFill>
                  <a:schemeClr val="dk1"/>
                </a:solidFill>
                <a:latin typeface="Times New Roman"/>
                <a:ea typeface="Times New Roman"/>
                <a:cs typeface="Times New Roman"/>
                <a:sym typeface="Times New Roman"/>
              </a:rPr>
              <a:t>Regular lattice</a:t>
            </a:r>
            <a:endParaRPr b="0" i="0" sz="1600" u="none" cap="none" strike="noStrike">
              <a:solidFill>
                <a:schemeClr val="dk1"/>
              </a:solidFill>
              <a:latin typeface="Times New Roman"/>
              <a:ea typeface="Times New Roman"/>
              <a:cs typeface="Times New Roman"/>
              <a:sym typeface="Times New Roman"/>
            </a:endParaRPr>
          </a:p>
        </p:txBody>
      </p:sp>
      <p:sp>
        <p:nvSpPr>
          <p:cNvPr id="653" name="Google Shape;653;p69"/>
          <p:cNvSpPr txBox="1"/>
          <p:nvPr/>
        </p:nvSpPr>
        <p:spPr>
          <a:xfrm>
            <a:off x="23936" y="2063162"/>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32</a:t>
            </a:r>
            <a:endParaRPr b="1" i="0" sz="1800" u="none" cap="none" strike="noStrike">
              <a:solidFill>
                <a:schemeClr val="lt1"/>
              </a:solidFill>
              <a:latin typeface="Times New Roman"/>
              <a:ea typeface="Times New Roman"/>
              <a:cs typeface="Times New Roman"/>
              <a:sym typeface="Times New Roman"/>
            </a:endParaRPr>
          </a:p>
        </p:txBody>
      </p:sp>
      <p:sp>
        <p:nvSpPr>
          <p:cNvPr id="654" name="Google Shape;654;p69"/>
          <p:cNvSpPr txBox="1"/>
          <p:nvPr/>
        </p:nvSpPr>
        <p:spPr>
          <a:xfrm>
            <a:off x="0" y="4771824"/>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32</a:t>
            </a:r>
            <a:endParaRPr b="1" i="0" sz="1800" u="none" cap="none" strike="noStrike">
              <a:solidFill>
                <a:schemeClr val="lt1"/>
              </a:solidFill>
              <a:latin typeface="Times New Roman"/>
              <a:ea typeface="Times New Roman"/>
              <a:cs typeface="Times New Roman"/>
              <a:sym typeface="Times New Roman"/>
            </a:endParaRPr>
          </a:p>
        </p:txBody>
      </p:sp>
      <p:sp>
        <p:nvSpPr>
          <p:cNvPr id="655" name="Google Shape;655;p69"/>
          <p:cNvSpPr txBox="1"/>
          <p:nvPr/>
        </p:nvSpPr>
        <p:spPr>
          <a:xfrm>
            <a:off x="3017815" y="4750691"/>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656" name="Google Shape;656;p69"/>
          <p:cNvCxnSpPr/>
          <p:nvPr/>
        </p:nvCxnSpPr>
        <p:spPr>
          <a:xfrm>
            <a:off x="2743569" y="4944931"/>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657" name="Google Shape;657;p69"/>
          <p:cNvPicPr preferRelativeResize="0"/>
          <p:nvPr/>
        </p:nvPicPr>
        <p:blipFill rotWithShape="1">
          <a:blip r:embed="rId3">
            <a:alphaModFix/>
          </a:blip>
          <a:srcRect b="0" l="0" r="9461" t="62505"/>
          <a:stretch/>
        </p:blipFill>
        <p:spPr>
          <a:xfrm>
            <a:off x="4037101" y="3836653"/>
            <a:ext cx="5106901" cy="905107"/>
          </a:xfrm>
          <a:prstGeom prst="rect">
            <a:avLst/>
          </a:prstGeom>
          <a:noFill/>
          <a:ln>
            <a:noFill/>
          </a:ln>
        </p:spPr>
      </p:pic>
      <p:pic>
        <p:nvPicPr>
          <p:cNvPr id="658" name="Google Shape;658;p69"/>
          <p:cNvPicPr preferRelativeResize="0"/>
          <p:nvPr/>
        </p:nvPicPr>
        <p:blipFill rotWithShape="1">
          <a:blip r:embed="rId3">
            <a:alphaModFix/>
          </a:blip>
          <a:srcRect b="38368" l="0" r="0" t="11431"/>
          <a:stretch/>
        </p:blipFill>
        <p:spPr>
          <a:xfrm>
            <a:off x="0" y="2571750"/>
            <a:ext cx="5910807" cy="1269842"/>
          </a:xfrm>
          <a:prstGeom prst="rect">
            <a:avLst/>
          </a:prstGeom>
          <a:noFill/>
          <a:ln>
            <a:noFill/>
          </a:ln>
        </p:spPr>
      </p:pic>
      <p:pic>
        <p:nvPicPr>
          <p:cNvPr id="659" name="Google Shape;659;p69"/>
          <p:cNvPicPr preferRelativeResize="0"/>
          <p:nvPr/>
        </p:nvPicPr>
        <p:blipFill rotWithShape="1">
          <a:blip r:embed="rId3">
            <a:alphaModFix/>
          </a:blip>
          <a:srcRect b="88832" l="0" r="42029" t="0"/>
          <a:stretch/>
        </p:blipFill>
        <p:spPr>
          <a:xfrm>
            <a:off x="1784231" y="2473529"/>
            <a:ext cx="4505741" cy="3714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1000"/>
                                        <p:tgtEl>
                                          <p:spTgt spid="6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000"/>
                                        <p:tgtEl>
                                          <p:spTgt spid="659"/>
                                        </p:tgtEl>
                                      </p:cBhvr>
                                    </p:animEffect>
                                  </p:childTnLst>
                                </p:cTn>
                              </p:par>
                              <p:par>
                                <p:cTn fill="hold" nodeType="with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1000"/>
                                        <p:tgtEl>
                                          <p:spTgt spid="658"/>
                                        </p:tgtEl>
                                      </p:cBhvr>
                                    </p:animEffect>
                                  </p:childTnLst>
                                </p:cTn>
                              </p:par>
                              <p:par>
                                <p:cTn fill="hold" nodeType="with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gtEl>
                                        <p:attrNameLst>
                                          <p:attrName>style.visibility</p:attrName>
                                        </p:attrNameLst>
                                      </p:cBhvr>
                                      <p:to>
                                        <p:strVal val="visible"/>
                                      </p:to>
                                    </p:set>
                                    <p:animEffect filter="fade" transition="in">
                                      <p:cBhvr>
                                        <p:cTn dur="500"/>
                                        <p:tgtEl>
                                          <p:spTgt spid="655"/>
                                        </p:tgtEl>
                                      </p:cBhvr>
                                    </p:animEffect>
                                  </p:childTnLst>
                                </p:cTn>
                              </p:par>
                              <p:par>
                                <p:cTn fill="hold" nodeType="with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500"/>
                                        <p:tgtEl>
                                          <p:spTgt spid="656"/>
                                        </p:tgtEl>
                                      </p:cBhvr>
                                    </p:animEffect>
                                  </p:childTnLst>
                                </p:cTn>
                              </p:par>
                              <p:par>
                                <p:cTn fill="hold" nodeType="with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500"/>
                                        <p:tgtEl>
                                          <p:spTgt spid="6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0"/>
          <p:cNvSpPr txBox="1"/>
          <p:nvPr/>
        </p:nvSpPr>
        <p:spPr>
          <a:xfrm>
            <a:off x="-1" y="12527"/>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33</a:t>
            </a:r>
            <a:endParaRPr b="1" i="0" sz="1800" u="none" cap="none" strike="noStrike">
              <a:solidFill>
                <a:schemeClr val="lt1"/>
              </a:solidFill>
              <a:latin typeface="Times New Roman"/>
              <a:ea typeface="Times New Roman"/>
              <a:cs typeface="Times New Roman"/>
              <a:sym typeface="Times New Roman"/>
            </a:endParaRPr>
          </a:p>
        </p:txBody>
      </p:sp>
      <p:sp>
        <p:nvSpPr>
          <p:cNvPr id="666" name="Google Shape;666;p70"/>
          <p:cNvSpPr txBox="1"/>
          <p:nvPr/>
        </p:nvSpPr>
        <p:spPr>
          <a:xfrm>
            <a:off x="0" y="1852632"/>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33</a:t>
            </a:r>
            <a:endParaRPr b="1" i="0" sz="1800" u="none" cap="none" strike="noStrike">
              <a:solidFill>
                <a:schemeClr val="lt1"/>
              </a:solidFill>
              <a:latin typeface="Times New Roman"/>
              <a:ea typeface="Times New Roman"/>
              <a:cs typeface="Times New Roman"/>
              <a:sym typeface="Times New Roman"/>
            </a:endParaRPr>
          </a:p>
        </p:txBody>
      </p:sp>
      <p:sp>
        <p:nvSpPr>
          <p:cNvPr id="667" name="Google Shape;667;p70"/>
          <p:cNvSpPr txBox="1"/>
          <p:nvPr/>
        </p:nvSpPr>
        <p:spPr>
          <a:xfrm>
            <a:off x="-1" y="4763840"/>
            <a:ext cx="2817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33</a:t>
            </a:r>
            <a:endParaRPr b="1" i="0" sz="1800" u="none" cap="none" strike="noStrike">
              <a:solidFill>
                <a:schemeClr val="lt1"/>
              </a:solidFill>
              <a:latin typeface="Times New Roman"/>
              <a:ea typeface="Times New Roman"/>
              <a:cs typeface="Times New Roman"/>
              <a:sym typeface="Times New Roman"/>
            </a:endParaRPr>
          </a:p>
        </p:txBody>
      </p:sp>
      <p:sp>
        <p:nvSpPr>
          <p:cNvPr id="668" name="Google Shape;668;p70"/>
          <p:cNvSpPr txBox="1"/>
          <p:nvPr/>
        </p:nvSpPr>
        <p:spPr>
          <a:xfrm>
            <a:off x="3301082" y="4771806"/>
            <a:ext cx="830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669" name="Google Shape;669;p70"/>
          <p:cNvCxnSpPr/>
          <p:nvPr/>
        </p:nvCxnSpPr>
        <p:spPr>
          <a:xfrm>
            <a:off x="2964542" y="4944930"/>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70" name="Google Shape;670;p70"/>
          <p:cNvSpPr txBox="1"/>
          <p:nvPr/>
        </p:nvSpPr>
        <p:spPr>
          <a:xfrm>
            <a:off x="0" y="391209"/>
            <a:ext cx="9087300" cy="1426200"/>
          </a:xfrm>
          <a:prstGeom prst="rect">
            <a:avLst/>
          </a:prstGeom>
          <a:blipFill rotWithShape="1">
            <a:blip r:embed="rId3">
              <a:alphaModFix/>
            </a:blip>
            <a:stretch>
              <a:fillRect b="-3510" l="-280" r="-280" t="-88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pic>
        <p:nvPicPr>
          <p:cNvPr id="671" name="Google Shape;671;p70"/>
          <p:cNvPicPr preferRelativeResize="0"/>
          <p:nvPr/>
        </p:nvPicPr>
        <p:blipFill rotWithShape="1">
          <a:blip r:embed="rId4">
            <a:alphaModFix/>
          </a:blip>
          <a:srcRect b="0" l="0" r="8692" t="62856"/>
          <a:stretch/>
        </p:blipFill>
        <p:spPr>
          <a:xfrm>
            <a:off x="4234070" y="3936142"/>
            <a:ext cx="4909928" cy="1008788"/>
          </a:xfrm>
          <a:prstGeom prst="rect">
            <a:avLst/>
          </a:prstGeom>
          <a:noFill/>
          <a:ln>
            <a:noFill/>
          </a:ln>
        </p:spPr>
      </p:pic>
      <p:pic>
        <p:nvPicPr>
          <p:cNvPr id="672" name="Google Shape;672;p70"/>
          <p:cNvPicPr preferRelativeResize="0"/>
          <p:nvPr/>
        </p:nvPicPr>
        <p:blipFill rotWithShape="1">
          <a:blip r:embed="rId4">
            <a:alphaModFix/>
          </a:blip>
          <a:srcRect b="38376" l="0" r="0" t="14023"/>
          <a:stretch/>
        </p:blipFill>
        <p:spPr>
          <a:xfrm>
            <a:off x="0" y="2486980"/>
            <a:ext cx="5931954" cy="1426095"/>
          </a:xfrm>
          <a:prstGeom prst="rect">
            <a:avLst/>
          </a:prstGeom>
          <a:noFill/>
          <a:ln>
            <a:noFill/>
          </a:ln>
        </p:spPr>
      </p:pic>
      <p:pic>
        <p:nvPicPr>
          <p:cNvPr id="673" name="Google Shape;673;p70"/>
          <p:cNvPicPr preferRelativeResize="0"/>
          <p:nvPr/>
        </p:nvPicPr>
        <p:blipFill rotWithShape="1">
          <a:blip r:embed="rId4">
            <a:alphaModFix/>
          </a:blip>
          <a:srcRect b="89859" l="0" r="25021" t="0"/>
          <a:stretch/>
        </p:blipFill>
        <p:spPr>
          <a:xfrm>
            <a:off x="2004391" y="2131899"/>
            <a:ext cx="5827644" cy="3980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000"/>
                                        <p:tgtEl>
                                          <p:spTgt spid="6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1000"/>
                                        <p:tgtEl>
                                          <p:spTgt spid="673"/>
                                        </p:tgtEl>
                                      </p:cBhvr>
                                    </p:animEffect>
                                  </p:childTnLst>
                                </p:cTn>
                              </p:par>
                              <p:par>
                                <p:cTn fill="hold" nodeType="with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1000"/>
                                        <p:tgtEl>
                                          <p:spTgt spid="672"/>
                                        </p:tgtEl>
                                      </p:cBhvr>
                                    </p:animEffect>
                                  </p:childTnLst>
                                </p:cTn>
                              </p:par>
                              <p:par>
                                <p:cTn fill="hold" nodeType="with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1000"/>
                                        <p:tgtEl>
                                          <p:spTgt spid="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1000"/>
                                        <p:tgtEl>
                                          <p:spTgt spid="668"/>
                                        </p:tgtEl>
                                      </p:cBhvr>
                                    </p:animEffect>
                                  </p:childTnLst>
                                </p:cTn>
                              </p:par>
                              <p:par>
                                <p:cTn fill="hold" nodeType="with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1000"/>
                                        <p:tgtEl>
                                          <p:spTgt spid="669"/>
                                        </p:tgtEl>
                                      </p:cBhvr>
                                    </p:animEffect>
                                  </p:childTnLst>
                                </p:cTn>
                              </p:par>
                              <p:par>
                                <p:cTn fill="hold" nodeType="with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1000"/>
                                        <p:tgtEl>
                                          <p:spTgt spid="6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71"/>
          <p:cNvSpPr txBox="1"/>
          <p:nvPr/>
        </p:nvSpPr>
        <p:spPr>
          <a:xfrm>
            <a:off x="-7332" y="0"/>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34</a:t>
            </a:r>
            <a:endParaRPr b="1" i="0" sz="1800" u="none" cap="none" strike="noStrike">
              <a:solidFill>
                <a:schemeClr val="lt1"/>
              </a:solidFill>
              <a:latin typeface="Times New Roman"/>
              <a:ea typeface="Times New Roman"/>
              <a:cs typeface="Times New Roman"/>
              <a:sym typeface="Times New Roman"/>
            </a:endParaRPr>
          </a:p>
        </p:txBody>
      </p:sp>
      <p:sp>
        <p:nvSpPr>
          <p:cNvPr id="680" name="Google Shape;680;p71"/>
          <p:cNvSpPr txBox="1"/>
          <p:nvPr/>
        </p:nvSpPr>
        <p:spPr>
          <a:xfrm>
            <a:off x="10613" y="346249"/>
            <a:ext cx="9022500" cy="1824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  Suppose you have a social network of N people, and the average number of “friendship hops” between any two random people grows on the order of log N. This phenomenon (e.g. “six degrees of separation”) is characteristic of what network property?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Preferential attachment</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Homophily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Small-world property</a:t>
            </a:r>
            <a:endParaRPr/>
          </a:p>
          <a:p>
            <a:pPr indent="-342900" lvl="0" marL="342900" marR="0" rtl="0" algn="l">
              <a:lnSpc>
                <a:spcPct val="100000"/>
              </a:lnSpc>
              <a:spcBef>
                <a:spcPts val="0"/>
              </a:spcBef>
              <a:spcAft>
                <a:spcPts val="0"/>
              </a:spcAft>
              <a:buClr>
                <a:srgbClr val="000000"/>
              </a:buClr>
              <a:buSzPts val="18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Hierarchical structure.</a:t>
            </a:r>
            <a:endParaRPr b="0" i="0" sz="1400" u="none" cap="none" strike="noStrike">
              <a:solidFill>
                <a:schemeClr val="dk1"/>
              </a:solidFill>
              <a:latin typeface="Times New Roman"/>
              <a:ea typeface="Times New Roman"/>
              <a:cs typeface="Times New Roman"/>
              <a:sym typeface="Times New Roman"/>
            </a:endParaRPr>
          </a:p>
        </p:txBody>
      </p:sp>
      <p:sp>
        <p:nvSpPr>
          <p:cNvPr id="681" name="Google Shape;681;p71"/>
          <p:cNvSpPr txBox="1"/>
          <p:nvPr/>
        </p:nvSpPr>
        <p:spPr>
          <a:xfrm>
            <a:off x="2605187" y="2020396"/>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34</a:t>
            </a:r>
            <a:endParaRPr b="1" i="0" sz="1800" u="none" cap="none" strike="noStrike">
              <a:solidFill>
                <a:schemeClr val="lt1"/>
              </a:solidFill>
              <a:latin typeface="Times New Roman"/>
              <a:ea typeface="Times New Roman"/>
              <a:cs typeface="Times New Roman"/>
              <a:sym typeface="Times New Roman"/>
            </a:endParaRPr>
          </a:p>
        </p:txBody>
      </p:sp>
      <p:sp>
        <p:nvSpPr>
          <p:cNvPr id="682" name="Google Shape;682;p71"/>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34</a:t>
            </a:r>
            <a:endParaRPr b="1" i="0" sz="1800" u="none" cap="none" strike="noStrike">
              <a:solidFill>
                <a:schemeClr val="lt1"/>
              </a:solidFill>
              <a:latin typeface="Times New Roman"/>
              <a:ea typeface="Times New Roman"/>
              <a:cs typeface="Times New Roman"/>
              <a:sym typeface="Times New Roman"/>
            </a:endParaRPr>
          </a:p>
        </p:txBody>
      </p:sp>
      <p:sp>
        <p:nvSpPr>
          <p:cNvPr id="683" name="Google Shape;683;p71"/>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684" name="Google Shape;684;p71"/>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685" name="Google Shape;685;p71"/>
          <p:cNvPicPr preferRelativeResize="0"/>
          <p:nvPr/>
        </p:nvPicPr>
        <p:blipFill rotWithShape="1">
          <a:blip r:embed="rId3">
            <a:alphaModFix/>
          </a:blip>
          <a:srcRect b="0" l="0" r="0" t="0"/>
          <a:stretch/>
        </p:blipFill>
        <p:spPr>
          <a:xfrm>
            <a:off x="10613" y="2494017"/>
            <a:ext cx="6060173" cy="2142399"/>
          </a:xfrm>
          <a:prstGeom prst="rect">
            <a:avLst/>
          </a:prstGeom>
          <a:noFill/>
          <a:ln>
            <a:noFill/>
          </a:ln>
        </p:spPr>
      </p:pic>
      <p:pic>
        <p:nvPicPr>
          <p:cNvPr id="686" name="Google Shape;686;p71"/>
          <p:cNvPicPr preferRelativeResize="0"/>
          <p:nvPr/>
        </p:nvPicPr>
        <p:blipFill rotWithShape="1">
          <a:blip r:embed="rId4">
            <a:alphaModFix/>
          </a:blip>
          <a:srcRect b="0" l="0" r="0" t="0"/>
          <a:stretch/>
        </p:blipFill>
        <p:spPr>
          <a:xfrm>
            <a:off x="6503244" y="3219927"/>
            <a:ext cx="1329847" cy="479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1000"/>
                                        <p:tgtEl>
                                          <p:spTgt spid="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1000"/>
                                        <p:tgtEl>
                                          <p:spTgt spid="685"/>
                                        </p:tgtEl>
                                      </p:cBhvr>
                                    </p:animEffect>
                                  </p:childTnLst>
                                </p:cTn>
                              </p:par>
                              <p:par>
                                <p:cTn fill="hold" nodeType="with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1000"/>
                                        <p:tgtEl>
                                          <p:spTgt spid="6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1000"/>
                                        <p:tgtEl>
                                          <p:spTgt spid="683"/>
                                        </p:tgtEl>
                                      </p:cBhvr>
                                    </p:animEffect>
                                  </p:childTnLst>
                                </p:cTn>
                              </p:par>
                              <p:par>
                                <p:cTn fill="hold" nodeType="with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1000"/>
                                        <p:tgtEl>
                                          <p:spTgt spid="684"/>
                                        </p:tgtEl>
                                      </p:cBhvr>
                                    </p:animEffect>
                                  </p:childTnLst>
                                </p:cTn>
                              </p:par>
                              <p:par>
                                <p:cTn fill="hold" nodeType="with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1000"/>
                                        <p:tgtEl>
                                          <p:spTgt spid="6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72"/>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35</a:t>
            </a:r>
            <a:endParaRPr b="1" i="0" sz="1800" u="none" cap="none" strike="noStrike">
              <a:solidFill>
                <a:schemeClr val="lt1"/>
              </a:solidFill>
              <a:latin typeface="Times New Roman"/>
              <a:ea typeface="Times New Roman"/>
              <a:cs typeface="Times New Roman"/>
              <a:sym typeface="Times New Roman"/>
            </a:endParaRPr>
          </a:p>
        </p:txBody>
      </p:sp>
      <p:sp>
        <p:nvSpPr>
          <p:cNvPr id="693" name="Google Shape;693;p72"/>
          <p:cNvSpPr txBox="1"/>
          <p:nvPr/>
        </p:nvSpPr>
        <p:spPr>
          <a:xfrm>
            <a:off x="91947" y="190938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35</a:t>
            </a:r>
            <a:endParaRPr b="1" i="0" sz="1800" u="none" cap="none" strike="noStrike">
              <a:solidFill>
                <a:schemeClr val="lt1"/>
              </a:solidFill>
              <a:latin typeface="Times New Roman"/>
              <a:ea typeface="Times New Roman"/>
              <a:cs typeface="Times New Roman"/>
              <a:sym typeface="Times New Roman"/>
            </a:endParaRPr>
          </a:p>
        </p:txBody>
      </p:sp>
      <p:sp>
        <p:nvSpPr>
          <p:cNvPr id="694" name="Google Shape;694;p72"/>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35</a:t>
            </a:r>
            <a:endParaRPr b="1" i="0" sz="1800" u="none" cap="none" strike="noStrike">
              <a:solidFill>
                <a:schemeClr val="lt1"/>
              </a:solidFill>
              <a:latin typeface="Times New Roman"/>
              <a:ea typeface="Times New Roman"/>
              <a:cs typeface="Times New Roman"/>
              <a:sym typeface="Times New Roman"/>
            </a:endParaRPr>
          </a:p>
        </p:txBody>
      </p:sp>
      <p:sp>
        <p:nvSpPr>
          <p:cNvPr id="695" name="Google Shape;695;p72"/>
          <p:cNvSpPr txBox="1"/>
          <p:nvPr/>
        </p:nvSpPr>
        <p:spPr>
          <a:xfrm>
            <a:off x="3017816" y="4763840"/>
            <a:ext cx="11952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a), b), c)</a:t>
            </a:r>
            <a:endParaRPr b="1" i="0" sz="1800" u="none" cap="none" strike="noStrike">
              <a:solidFill>
                <a:schemeClr val="lt1"/>
              </a:solidFill>
              <a:latin typeface="Times New Roman"/>
              <a:ea typeface="Times New Roman"/>
              <a:cs typeface="Times New Roman"/>
              <a:sym typeface="Times New Roman"/>
            </a:endParaRPr>
          </a:p>
        </p:txBody>
      </p:sp>
      <p:cxnSp>
        <p:nvCxnSpPr>
          <p:cNvPr id="696" name="Google Shape;696;p72"/>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97" name="Google Shape;697;p72"/>
          <p:cNvSpPr txBox="1"/>
          <p:nvPr/>
        </p:nvSpPr>
        <p:spPr>
          <a:xfrm>
            <a:off x="91947" y="491111"/>
            <a:ext cx="88335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 You simulate adding edges preferentially among similar individuals (homophily) versus adding random long-range edges (weak ties). Which effects does homophily have on the network? (Choose all that apply.) </a:t>
            </a:r>
            <a:endParaRPr/>
          </a:p>
          <a:p>
            <a:pPr indent="-342900" lvl="0" marL="342900" marR="0" rtl="0" algn="just">
              <a:lnSpc>
                <a:spcPct val="100000"/>
              </a:lnSpc>
              <a:spcBef>
                <a:spcPts val="0"/>
              </a:spcBef>
              <a:spcAft>
                <a:spcPts val="0"/>
              </a:spcAft>
              <a:buClr>
                <a:srgbClr val="000000"/>
              </a:buClr>
              <a:buSzPts val="14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Increases clustering within groups of similar nodes.</a:t>
            </a:r>
            <a:endParaRPr/>
          </a:p>
          <a:p>
            <a:pPr indent="-342900" lvl="0" marL="342900" marR="0" rtl="0" algn="just">
              <a:lnSpc>
                <a:spcPct val="100000"/>
              </a:lnSpc>
              <a:spcBef>
                <a:spcPts val="0"/>
              </a:spcBef>
              <a:spcAft>
                <a:spcPts val="0"/>
              </a:spcAft>
              <a:buClr>
                <a:srgbClr val="000000"/>
              </a:buClr>
              <a:buSzPts val="14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Decreases the number of bridges between different groups. </a:t>
            </a:r>
            <a:endParaRPr/>
          </a:p>
          <a:p>
            <a:pPr indent="-342900" lvl="0" marL="342900" marR="0" rtl="0" algn="just">
              <a:lnSpc>
                <a:spcPct val="100000"/>
              </a:lnSpc>
              <a:spcBef>
                <a:spcPts val="0"/>
              </a:spcBef>
              <a:spcAft>
                <a:spcPts val="0"/>
              </a:spcAft>
              <a:buClr>
                <a:srgbClr val="000000"/>
              </a:buClr>
              <a:buSzPts val="14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Tends to create community structures by attribute. </a:t>
            </a:r>
            <a:endParaRPr/>
          </a:p>
          <a:p>
            <a:pPr indent="-342900" lvl="0" marL="342900" marR="0" rtl="0" algn="just">
              <a:lnSpc>
                <a:spcPct val="100000"/>
              </a:lnSpc>
              <a:spcBef>
                <a:spcPts val="0"/>
              </a:spcBef>
              <a:spcAft>
                <a:spcPts val="0"/>
              </a:spcAft>
              <a:buClr>
                <a:srgbClr val="000000"/>
              </a:buClr>
              <a:buSzPts val="1400"/>
              <a:buFont typeface="Arial"/>
              <a:buAutoNum type="alphaLcParenR"/>
            </a:pPr>
            <a:r>
              <a:rPr b="0" i="0" lang="en-US" sz="1400" u="none" cap="none" strike="noStrike">
                <a:solidFill>
                  <a:schemeClr val="dk1"/>
                </a:solidFill>
                <a:latin typeface="Times New Roman"/>
                <a:ea typeface="Times New Roman"/>
                <a:cs typeface="Times New Roman"/>
                <a:sym typeface="Times New Roman"/>
              </a:rPr>
              <a:t>Leads to a random network with Poisson degree distribution. </a:t>
            </a:r>
            <a:endParaRPr/>
          </a:p>
        </p:txBody>
      </p:sp>
      <p:pic>
        <p:nvPicPr>
          <p:cNvPr id="698" name="Google Shape;698;p72"/>
          <p:cNvPicPr preferRelativeResize="0"/>
          <p:nvPr/>
        </p:nvPicPr>
        <p:blipFill rotWithShape="1">
          <a:blip r:embed="rId3">
            <a:alphaModFix/>
          </a:blip>
          <a:srcRect b="0" l="0" r="0" t="0"/>
          <a:stretch/>
        </p:blipFill>
        <p:spPr>
          <a:xfrm>
            <a:off x="91947" y="2278438"/>
            <a:ext cx="5100003" cy="24248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1000"/>
                                        <p:tgtEl>
                                          <p:spTgt spid="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gtEl>
                                        <p:attrNameLst>
                                          <p:attrName>style.visibility</p:attrName>
                                        </p:attrNameLst>
                                      </p:cBhvr>
                                      <p:to>
                                        <p:strVal val="visible"/>
                                      </p:to>
                                    </p:set>
                                    <p:animEffect filter="fade" transition="in">
                                      <p:cBhvr>
                                        <p:cTn dur="1000"/>
                                        <p:tgtEl>
                                          <p:spTgt spid="6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5"/>
                                        </p:tgtEl>
                                        <p:attrNameLst>
                                          <p:attrName>style.visibility</p:attrName>
                                        </p:attrNameLst>
                                      </p:cBhvr>
                                      <p:to>
                                        <p:strVal val="visible"/>
                                      </p:to>
                                    </p:set>
                                    <p:animEffect filter="fade" transition="in">
                                      <p:cBhvr>
                                        <p:cTn dur="1000"/>
                                        <p:tgtEl>
                                          <p:spTgt spid="695"/>
                                        </p:tgtEl>
                                      </p:cBhvr>
                                    </p:animEffect>
                                  </p:childTnLst>
                                </p:cTn>
                              </p:par>
                              <p:par>
                                <p:cTn fill="hold" nodeType="withEffect" presetClass="entr" presetID="10" presetSubtype="0">
                                  <p:stCondLst>
                                    <p:cond delay="0"/>
                                  </p:stCondLst>
                                  <p:childTnLst>
                                    <p:set>
                                      <p:cBhvr>
                                        <p:cTn dur="1" fill="hold">
                                          <p:stCondLst>
                                            <p:cond delay="0"/>
                                          </p:stCondLst>
                                        </p:cTn>
                                        <p:tgtEl>
                                          <p:spTgt spid="696"/>
                                        </p:tgtEl>
                                        <p:attrNameLst>
                                          <p:attrName>style.visibility</p:attrName>
                                        </p:attrNameLst>
                                      </p:cBhvr>
                                      <p:to>
                                        <p:strVal val="visible"/>
                                      </p:to>
                                    </p:set>
                                    <p:animEffect filter="fade" transition="in">
                                      <p:cBhvr>
                                        <p:cTn dur="1000"/>
                                        <p:tgtEl>
                                          <p:spTgt spid="696"/>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1000"/>
                                        <p:tgtEl>
                                          <p:spTgt spid="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73"/>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QUESTION </a:t>
            </a:r>
            <a:r>
              <a:rPr b="1" lang="en-US" sz="1800">
                <a:solidFill>
                  <a:schemeClr val="lt1"/>
                </a:solidFill>
                <a:latin typeface="Times New Roman"/>
                <a:ea typeface="Times New Roman"/>
                <a:cs typeface="Times New Roman"/>
                <a:sym typeface="Times New Roman"/>
              </a:rPr>
              <a:t>36</a:t>
            </a:r>
            <a:endParaRPr b="1" i="0" sz="1800" u="none" cap="none" strike="noStrike">
              <a:solidFill>
                <a:schemeClr val="lt1"/>
              </a:solidFill>
              <a:latin typeface="Times New Roman"/>
              <a:ea typeface="Times New Roman"/>
              <a:cs typeface="Times New Roman"/>
              <a:sym typeface="Times New Roman"/>
            </a:endParaRPr>
          </a:p>
        </p:txBody>
      </p:sp>
      <p:sp>
        <p:nvSpPr>
          <p:cNvPr id="705" name="Google Shape;705;p73"/>
          <p:cNvSpPr txBox="1"/>
          <p:nvPr/>
        </p:nvSpPr>
        <p:spPr>
          <a:xfrm>
            <a:off x="3970367" y="84927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SOLUTION </a:t>
            </a:r>
            <a:r>
              <a:rPr b="1" lang="en-US" sz="1800">
                <a:solidFill>
                  <a:schemeClr val="lt1"/>
                </a:solidFill>
                <a:latin typeface="Times New Roman"/>
                <a:ea typeface="Times New Roman"/>
                <a:cs typeface="Times New Roman"/>
                <a:sym typeface="Times New Roman"/>
              </a:rPr>
              <a:t>36</a:t>
            </a:r>
            <a:endParaRPr b="1" i="0" sz="1800" u="none" cap="none" strike="noStrike">
              <a:solidFill>
                <a:schemeClr val="lt1"/>
              </a:solidFill>
              <a:latin typeface="Times New Roman"/>
              <a:ea typeface="Times New Roman"/>
              <a:cs typeface="Times New Roman"/>
              <a:sym typeface="Times New Roman"/>
            </a:endParaRPr>
          </a:p>
        </p:txBody>
      </p:sp>
      <p:sp>
        <p:nvSpPr>
          <p:cNvPr id="706" name="Google Shape;706;p73"/>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CORRECT ANSWER </a:t>
            </a:r>
            <a:r>
              <a:rPr b="1" lang="en-US" sz="1800">
                <a:solidFill>
                  <a:schemeClr val="lt1"/>
                </a:solidFill>
                <a:latin typeface="Times New Roman"/>
                <a:ea typeface="Times New Roman"/>
                <a:cs typeface="Times New Roman"/>
                <a:sym typeface="Times New Roman"/>
              </a:rPr>
              <a:t>36</a:t>
            </a:r>
            <a:endParaRPr b="1" i="0" sz="1800" u="none" cap="none" strike="noStrike">
              <a:solidFill>
                <a:schemeClr val="lt1"/>
              </a:solidFill>
              <a:latin typeface="Times New Roman"/>
              <a:ea typeface="Times New Roman"/>
              <a:cs typeface="Times New Roman"/>
              <a:sym typeface="Times New Roman"/>
            </a:endParaRPr>
          </a:p>
        </p:txBody>
      </p:sp>
      <p:sp>
        <p:nvSpPr>
          <p:cNvPr id="707" name="Google Shape;707;p73"/>
          <p:cNvSpPr txBox="1"/>
          <p:nvPr/>
        </p:nvSpPr>
        <p:spPr>
          <a:xfrm>
            <a:off x="3127729" y="4771822"/>
            <a:ext cx="12276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708" name="Google Shape;708;p73"/>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709" name="Google Shape;709;p73"/>
          <p:cNvSpPr txBox="1"/>
          <p:nvPr/>
        </p:nvSpPr>
        <p:spPr>
          <a:xfrm>
            <a:off x="61943" y="418786"/>
            <a:ext cx="9020100" cy="1207200"/>
          </a:xfrm>
          <a:prstGeom prst="rect">
            <a:avLst/>
          </a:prstGeom>
          <a:blipFill rotWithShape="1">
            <a:blip r:embed="rId3">
              <a:alphaModFix/>
            </a:blip>
            <a:stretch>
              <a:fillRect b="-4169" l="-280" r="0" t="-10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pic>
        <p:nvPicPr>
          <p:cNvPr id="710" name="Google Shape;710;p73"/>
          <p:cNvPicPr preferRelativeResize="0"/>
          <p:nvPr/>
        </p:nvPicPr>
        <p:blipFill rotWithShape="1">
          <a:blip r:embed="rId4">
            <a:alphaModFix/>
          </a:blip>
          <a:srcRect b="0" l="0" r="0" t="0"/>
          <a:stretch/>
        </p:blipFill>
        <p:spPr>
          <a:xfrm>
            <a:off x="1870275" y="1308091"/>
            <a:ext cx="6182138" cy="34028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1000"/>
                                        <p:tgtEl>
                                          <p:spTgt spid="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1000"/>
                                        <p:tgtEl>
                                          <p:spTgt spid="7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1000"/>
                                        <p:tgtEl>
                                          <p:spTgt spid="707"/>
                                        </p:tgtEl>
                                      </p:cBhvr>
                                    </p:animEffect>
                                  </p:childTnLst>
                                </p:cTn>
                              </p:par>
                              <p:par>
                                <p:cTn fill="hold" nodeType="with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1000"/>
                                        <p:tgtEl>
                                          <p:spTgt spid="708"/>
                                        </p:tgtEl>
                                      </p:cBhvr>
                                    </p:animEffect>
                                  </p:childTnLst>
                                </p:cTn>
                              </p:par>
                              <p:par>
                                <p:cTn fill="hold" nodeType="with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1000"/>
                                        <p:tgtEl>
                                          <p:spTgt spid="7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pic>
        <p:nvPicPr>
          <p:cNvPr id="715" name="Google Shape;715;p74"/>
          <p:cNvPicPr preferRelativeResize="0"/>
          <p:nvPr/>
        </p:nvPicPr>
        <p:blipFill>
          <a:blip r:embed="rId3">
            <a:alphaModFix/>
          </a:blip>
          <a:stretch>
            <a:fillRect/>
          </a:stretch>
        </p:blipFill>
        <p:spPr>
          <a:xfrm>
            <a:off x="0" y="0"/>
            <a:ext cx="3743576" cy="5143501"/>
          </a:xfrm>
          <a:prstGeom prst="rect">
            <a:avLst/>
          </a:prstGeom>
          <a:noFill/>
          <a:ln>
            <a:noFill/>
          </a:ln>
        </p:spPr>
      </p:pic>
      <p:pic>
        <p:nvPicPr>
          <p:cNvPr id="716" name="Google Shape;716;p74"/>
          <p:cNvPicPr preferRelativeResize="0"/>
          <p:nvPr/>
        </p:nvPicPr>
        <p:blipFill rotWithShape="1">
          <a:blip r:embed="rId4">
            <a:alphaModFix/>
          </a:blip>
          <a:srcRect b="5464" l="0" r="0" t="0"/>
          <a:stretch/>
        </p:blipFill>
        <p:spPr>
          <a:xfrm>
            <a:off x="3703165" y="0"/>
            <a:ext cx="5440836" cy="5143499"/>
          </a:xfrm>
          <a:prstGeom prst="rect">
            <a:avLst/>
          </a:prstGeom>
          <a:noFill/>
          <a:ln>
            <a:noFill/>
          </a:ln>
        </p:spPr>
      </p:pic>
      <p:sp>
        <p:nvSpPr>
          <p:cNvPr id="717" name="Google Shape;717;p74"/>
          <p:cNvSpPr txBox="1"/>
          <p:nvPr/>
        </p:nvSpPr>
        <p:spPr>
          <a:xfrm>
            <a:off x="3703225" y="4758125"/>
            <a:ext cx="5440800" cy="385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a:solidFill>
                  <a:schemeClr val="lt1"/>
                </a:solidFill>
                <a:latin typeface="Calibri"/>
                <a:ea typeface="Calibri"/>
                <a:cs typeface="Calibri"/>
                <a:sym typeface="Calibri"/>
              </a:rPr>
              <a:t>Contact me: </a:t>
            </a:r>
            <a:r>
              <a:rPr lang="en-US" u="sng">
                <a:solidFill>
                  <a:srgbClr val="00FFFF"/>
                </a:solidFill>
                <a:latin typeface="Calibri"/>
                <a:ea typeface="Calibri"/>
                <a:cs typeface="Calibri"/>
                <a:sym typeface="Calibri"/>
                <a:hlinkClick r:id="rId5">
                  <a:extLst>
                    <a:ext uri="{A12FA001-AC4F-418D-AE19-62706E023703}">
                      <ahyp:hlinkClr val="tx"/>
                    </a:ext>
                  </a:extLst>
                </a:hlinkClick>
              </a:rPr>
              <a:t>https://sites.google.com/view/ayans-agribot/home</a:t>
            </a:r>
            <a:endParaRPr>
              <a:solidFill>
                <a:srgbClr val="00FFFF"/>
              </a:solidFill>
              <a:latin typeface="Calibri"/>
              <a:ea typeface="Calibri"/>
              <a:cs typeface="Calibri"/>
              <a:sym typeface="Calibri"/>
            </a:endParaRPr>
          </a:p>
          <a:p>
            <a:pPr indent="0" lvl="0" marL="0" rtl="0" algn="r">
              <a:spcBef>
                <a:spcPts val="0"/>
              </a:spcBef>
              <a:spcAft>
                <a:spcPts val="0"/>
              </a:spcAft>
              <a:buNone/>
            </a:pPr>
            <a:r>
              <a:rPr lang="en-US">
                <a:solidFill>
                  <a:schemeClr val="lt1"/>
                </a:solidFill>
                <a:latin typeface="Calibri"/>
                <a:ea typeface="Calibri"/>
                <a:cs typeface="Calibri"/>
                <a:sym typeface="Calibri"/>
              </a:rPr>
              <a:t>  </a:t>
            </a:r>
            <a:endParaRPr>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